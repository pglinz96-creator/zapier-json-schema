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85D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F4A261"/>
                </a:solidFill>
              </a:rPr>
              <a:t>Schellenberg Druck 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9144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</a:rPr>
              <a:t>KI-gestützte
Auftragsannahme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4A261"/>
                </a:solidFill>
              </a:rPr>
              <a:t>Von der Kundenanfrage zum fertigen Angebot – vollautomatisch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663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0C4DE"/>
                </a:solidFill>
              </a:rPr>
              <a:t>Zapier · Claude AI · Gmail · Human in the 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0350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55657A"/>
                </a:solidFill>
              </a:rPr>
              <a:t>Juni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85D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Ausgangslage &amp; Vision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188720"/>
            <a:ext cx="4846320" cy="4389120"/>
          </a:xfrm>
          <a:prstGeom prst="rect">
            <a:avLst/>
          </a:prstGeom>
          <a:solidFill>
            <a:srgbClr val="12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128016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85D04"/>
                </a:solidFill>
              </a:rPr>
              <a:t>Vorher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783080"/>
            <a:ext cx="43891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CCDDEE"/>
                </a:solidFill>
              </a:rPr>
              <a:t>✗  Jede Anfrage manuell lesen &amp; bewerten</a:t>
            </a:r>
          </a:p>
          <a:p>
            <a:r>
              <a:rPr sz="1500">
                <a:solidFill>
                  <a:srgbClr val="CCDDEE"/>
                </a:solidFill>
              </a:rPr>
              <a:t>✗  Preise von Hand kalkulieren</a:t>
            </a:r>
          </a:p>
          <a:p>
            <a:r>
              <a:rPr sz="1500">
                <a:solidFill>
                  <a:srgbClr val="CCDDEE"/>
                </a:solidFill>
              </a:rPr>
              <a:t>✗  Angebote manuell verfassen</a:t>
            </a:r>
          </a:p>
          <a:p>
            <a:r>
              <a:rPr sz="1500">
                <a:solidFill>
                  <a:srgbClr val="CCDDEE"/>
                </a:solidFill>
              </a:rPr>
              <a:t>✗  Hohes Fehlerrisiko</a:t>
            </a:r>
          </a:p>
          <a:p>
            <a:r>
              <a:rPr sz="1500">
                <a:solidFill>
                  <a:srgbClr val="CCDDEE"/>
                </a:solidFill>
              </a:rPr>
              <a:t>✗  Zeitaufwand: 30–60 min pro Auftrag</a:t>
            </a:r>
          </a:p>
          <a:p>
            <a:r>
              <a:rPr sz="1500">
                <a:solidFill>
                  <a:srgbClr val="CCDDEE"/>
                </a:solidFill>
              </a:rPr>
              <a:t>✗  Keine Skalierbarkeit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188720"/>
            <a:ext cx="4846320" cy="4389120"/>
          </a:xfrm>
          <a:prstGeom prst="rect">
            <a:avLst/>
          </a:prstGeom>
          <a:solidFill>
            <a:srgbClr val="0D3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28016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52B788"/>
                </a:solidFill>
              </a:rPr>
              <a:t>Nachher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83080"/>
            <a:ext cx="43891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A8D8BE"/>
                </a:solidFill>
              </a:rPr>
              <a:t>✓  AI liest &amp; analysiert automatisch</a:t>
            </a:r>
          </a:p>
          <a:p>
            <a:r>
              <a:rPr sz="1500">
                <a:solidFill>
                  <a:srgbClr val="A8D8BE"/>
                </a:solidFill>
              </a:rPr>
              <a:t>✓  Rückfragen automatisch versenden</a:t>
            </a:r>
          </a:p>
          <a:p>
            <a:r>
              <a:rPr sz="1500">
                <a:solidFill>
                  <a:srgbClr val="A8D8BE"/>
                </a:solidFill>
              </a:rPr>
              <a:t>✓  Preise deterministisch kalkuliert</a:t>
            </a:r>
          </a:p>
          <a:p>
            <a:r>
              <a:rPr sz="1500">
                <a:solidFill>
                  <a:srgbClr val="A8D8BE"/>
                </a:solidFill>
              </a:rPr>
              <a:t>✓  Angebot KI-generiert</a:t>
            </a:r>
          </a:p>
          <a:p>
            <a:r>
              <a:rPr sz="1500">
                <a:solidFill>
                  <a:srgbClr val="A8D8BE"/>
                </a:solidFill>
              </a:rPr>
              <a:t>✓  Mensch prüft nur noch &amp; gibt frei</a:t>
            </a:r>
          </a:p>
          <a:p>
            <a:r>
              <a:rPr sz="1500">
                <a:solidFill>
                  <a:srgbClr val="A8D8BE"/>
                </a:solidFill>
              </a:rPr>
              <a:t>✓  Skalierbar, konsistent, schnell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3017520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E85D04"/>
                </a:solidFill>
              </a:rPr>
              <a:t>→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85D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Workflow-Übersicht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71600"/>
            <a:ext cx="1554480" cy="3474720"/>
          </a:xfrm>
          <a:prstGeom prst="rect">
            <a:avLst/>
          </a:prstGeom>
          <a:solidFill>
            <a:srgbClr val="2B4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A261"/>
                </a:solidFill>
              </a:rPr>
              <a:t>Step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Gmail
Trigger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37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</a:rPr>
              <a:t>Neue E-Mail
eingang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246888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E85D04"/>
                </a:solidFill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6040" y="1371600"/>
            <a:ext cx="1554480" cy="3474720"/>
          </a:xfrm>
          <a:prstGeom prst="rect">
            <a:avLst/>
          </a:prstGeom>
          <a:solidFill>
            <a:srgbClr val="2B4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7480" y="14630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A261"/>
                </a:solidFill>
              </a:rPr>
              <a:t>Step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1828800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AI
Analyse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2743200"/>
            <a:ext cx="137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</a:rPr>
              <a:t>Daten extrahieren
Thread lesen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0520" y="246888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E85D04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371600"/>
            <a:ext cx="1554480" cy="3474720"/>
          </a:xfrm>
          <a:prstGeom prst="rect">
            <a:avLst/>
          </a:prstGeom>
          <a:solidFill>
            <a:srgbClr val="6B35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59" y="14630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A261"/>
                </a:solidFill>
              </a:rPr>
              <a:t>Step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59" y="1828800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Path
Entscheid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59" y="2743200"/>
            <a:ext cx="137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</a:rPr>
              <a:t>Vollständig?
Ja / Nein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246888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E85D04"/>
                </a:solidFill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1371600"/>
            <a:ext cx="1554480" cy="3474720"/>
          </a:xfrm>
          <a:prstGeom prst="rect">
            <a:avLst/>
          </a:prstGeom>
          <a:solidFill>
            <a:srgbClr val="1A5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14630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A261"/>
                </a:solidFill>
              </a:rPr>
              <a:t>Step 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1828800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Kalkulation
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2743200"/>
            <a:ext cx="137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</a:rPr>
              <a:t>Fixpreise
berechnen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79" y="246888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E85D04"/>
                </a:solidFill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55279" y="1371600"/>
            <a:ext cx="1554480" cy="3474720"/>
          </a:xfrm>
          <a:prstGeom prst="rect">
            <a:avLst/>
          </a:prstGeom>
          <a:solidFill>
            <a:srgbClr val="1A5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19" y="14630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A261"/>
                </a:solidFill>
              </a:rPr>
              <a:t>Step 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19" y="1828800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Offerte
AI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19" y="2743200"/>
            <a:ext cx="137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</a:rPr>
              <a:t>Angebot
generieren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59" y="246888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E85D04"/>
                </a:solidFill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38360" y="1371600"/>
            <a:ext cx="1554480" cy="3474720"/>
          </a:xfrm>
          <a:prstGeom prst="rect">
            <a:avLst/>
          </a:prstGeom>
          <a:solidFill>
            <a:srgbClr val="5C2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29800" y="14630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A261"/>
                </a:solidFill>
              </a:rPr>
              <a:t>Step 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1828800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Human in
the Loop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2743200"/>
            <a:ext cx="137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</a:rPr>
              <a:t>Edgar prüft
&amp; gibt frei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5120640"/>
            <a:ext cx="4572000" cy="1005840"/>
          </a:xfrm>
          <a:prstGeom prst="rect">
            <a:avLst/>
          </a:prstGeom>
          <a:solidFill>
            <a:srgbClr val="6B35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521208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4A261"/>
                </a:solidFill>
              </a:rPr>
              <a:t>Unvollständig → Automatische Rückfrage an Kunden (Step 16)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0" y="5120640"/>
            <a:ext cx="5394960" cy="1005840"/>
          </a:xfrm>
          <a:prstGeom prst="rect">
            <a:avLst/>
          </a:prstGeom>
          <a:solidFill>
            <a:srgbClr val="1A5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06440" y="521208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0E0B8"/>
                </a:solidFill>
              </a:rPr>
              <a:t>Vollständig → Kalkulation → Offerte → Freigabe → Versand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85D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Step 2 – AI Auftragsanalyse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4A261"/>
                </a:solidFill>
              </a:rPr>
              <a:t>Claude analysiert den gesamten E-Mail-Thread und extrahiert alle Auftragsdaten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645920"/>
            <a:ext cx="4846320" cy="4480560"/>
          </a:xfrm>
          <a:prstGeom prst="rect">
            <a:avLst/>
          </a:prstGeom>
          <a:solidFill>
            <a:srgbClr val="12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85D04"/>
                </a:solidFill>
              </a:rPr>
              <a:t>Pflichtfelder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240280"/>
            <a:ext cx="4480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B0C4DE"/>
                </a:solidFill>
              </a:rPr>
              <a:t>Kundendaten: Name, Firma, Adresse, Telefon, E-Mail</a:t>
            </a:r>
          </a:p>
          <a:p>
            <a:r>
              <a:rPr sz="1300">
                <a:solidFill>
                  <a:srgbClr val="B0C4DE"/>
                </a:solidFill>
              </a:rPr>
              <a:t/>
            </a:r>
          </a:p>
          <a:p>
            <a:r>
              <a:rPr sz="1300">
                <a:solidFill>
                  <a:srgbClr val="B0C4DE"/>
                </a:solidFill>
              </a:rPr>
              <a:t>Auftragsdaten:</a:t>
            </a:r>
          </a:p>
          <a:p>
            <a:r>
              <a:rPr sz="1300">
                <a:solidFill>
                  <a:srgbClr val="B0C4DE"/>
                </a:solidFill>
              </a:rPr>
              <a:t>· Produkt &amp; Format</a:t>
            </a:r>
          </a:p>
          <a:p>
            <a:r>
              <a:rPr sz="1300">
                <a:solidFill>
                  <a:srgbClr val="B0C4DE"/>
                </a:solidFill>
              </a:rPr>
              <a:t>· Auflage (Stückzahl)</a:t>
            </a:r>
          </a:p>
          <a:p>
            <a:r>
              <a:rPr sz="1300">
                <a:solidFill>
                  <a:srgbClr val="B0C4DE"/>
                </a:solidFill>
              </a:rPr>
              <a:t>· Farbigkeit (z.B. 4/0 = einseitig)</a:t>
            </a:r>
          </a:p>
          <a:p>
            <a:r>
              <a:rPr sz="1300">
                <a:solidFill>
                  <a:srgbClr val="B0C4DE"/>
                </a:solidFill>
              </a:rPr>
              <a:t>· Material &amp; Grammatur</a:t>
            </a:r>
          </a:p>
          <a:p>
            <a:r>
              <a:rPr sz="1300">
                <a:solidFill>
                  <a:srgbClr val="B0C4DE"/>
                </a:solidFill>
              </a:rPr>
              <a:t>· Veredelung (oder keine)</a:t>
            </a:r>
          </a:p>
          <a:p>
            <a:r>
              <a:rPr sz="1300">
                <a:solidFill>
                  <a:srgbClr val="B0C4DE"/>
                </a:solidFill>
              </a:rPr>
              <a:t>· Liefertermin</a:t>
            </a:r>
          </a:p>
          <a:p>
            <a:r>
              <a:rPr sz="1300">
                <a:solidFill>
                  <a:srgbClr val="B0C4DE"/>
                </a:solidFill>
              </a:rPr>
              <a:t>· Druckdaten vorhanden?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645920"/>
            <a:ext cx="4846320" cy="4480560"/>
          </a:xfrm>
          <a:prstGeom prst="rect">
            <a:avLst/>
          </a:prstGeom>
          <a:solidFill>
            <a:srgbClr val="12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73736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52B788"/>
                </a:solidFill>
              </a:rPr>
              <a:t>Intelligente Regeln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240280"/>
            <a:ext cx="4480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A8D8BE"/>
                </a:solidFill>
              </a:rPr>
              <a:t>Thread-Auswertung: alle Mails im Verlauf</a:t>
            </a:r>
          </a:p>
          <a:p>
            <a:r>
              <a:rPr sz="1300">
                <a:solidFill>
                  <a:srgbClr val="A8D8BE"/>
                </a:solidFill>
              </a:rPr>
              <a:t>→ bei Widerspruch gilt neuere Angabe</a:t>
            </a:r>
          </a:p>
          <a:p>
            <a:r>
              <a:rPr sz="1300">
                <a:solidFill>
                  <a:srgbClr val="A8D8BE"/>
                </a:solidFill>
              </a:rPr>
              <a:t/>
            </a:r>
          </a:p>
          <a:p>
            <a:r>
              <a:rPr sz="1300">
                <a:solidFill>
                  <a:srgbClr val="A8D8BE"/>
                </a:solidFill>
              </a:rPr>
              <a:t>Keine Doppelfragen:</a:t>
            </a:r>
          </a:p>
          <a:p>
            <a:r>
              <a:rPr sz="1300">
                <a:solidFill>
                  <a:srgbClr val="A8D8BE"/>
                </a:solidFill>
              </a:rPr>
              <a:t>· 4/0 = einseitig (nicht nochmal fragen)</a:t>
            </a:r>
          </a:p>
          <a:p>
            <a:r>
              <a:rPr sz="1300">
                <a:solidFill>
                  <a:srgbClr val="A8D8BE"/>
                </a:solidFill>
              </a:rPr>
              <a:t>· 4/4 = beidseitig (klar)</a:t>
            </a:r>
          </a:p>
          <a:p>
            <a:r>
              <a:rPr sz="1300">
                <a:solidFill>
                  <a:srgbClr val="A8D8BE"/>
                </a:solidFill>
              </a:rPr>
              <a:t>· 'keine Veredelung' = direkt eintragen</a:t>
            </a:r>
          </a:p>
          <a:p>
            <a:r>
              <a:rPr sz="1300">
                <a:solidFill>
                  <a:srgbClr val="A8D8BE"/>
                </a:solidFill>
              </a:rPr>
              <a:t/>
            </a:r>
          </a:p>
          <a:p>
            <a:r>
              <a:rPr sz="1300">
                <a:solidFill>
                  <a:srgbClr val="A8D8BE"/>
                </a:solidFill>
              </a:rPr>
              <a:t>E-Mail autom. aus Absender-Feld</a:t>
            </a:r>
          </a:p>
          <a:p>
            <a:r>
              <a:rPr sz="1300">
                <a:solidFill>
                  <a:srgbClr val="A8D8BE"/>
                </a:solidFill>
              </a:rPr>
              <a:t/>
            </a:r>
          </a:p>
          <a:p>
            <a:r>
              <a:rPr sz="1300">
                <a:solidFill>
                  <a:srgbClr val="A8D8BE"/>
                </a:solidFill>
              </a:rPr>
              <a:t>Ton: 1. Mail = freundlich | Folge = kurz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85D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Step 6 – Preiskalkulation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4A261"/>
                </a:solidFill>
              </a:rPr>
              <a:t>Deterministisch · Fixwerte · Keine Ermessensspielräume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08760"/>
            <a:ext cx="10149840" cy="1417320"/>
          </a:xfrm>
          <a:prstGeom prst="rect">
            <a:avLst/>
          </a:prstGeom>
          <a:solidFill>
            <a:srgbClr val="0D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600200"/>
            <a:ext cx="9784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5D04"/>
                </a:solidFill>
              </a:rPr>
              <a:t>Gesamtbogen = AUFRUNDEN((Auflage × 1.08) / 50) × 50   |   VP netto = Selbstkosten × 1.7241   →   aufrunden auf CHF 5.–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3120"/>
            <a:ext cx="9784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</a:rPr>
              <a:t>Selbstkosten = Papier + Druck + Veredelung + Layout + Expresszuschlag   |   MwSt. 8.1%   |   Min. CHF 95.–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108960"/>
            <a:ext cx="2331720" cy="3383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200400"/>
            <a:ext cx="2057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5D04"/>
                </a:solidFill>
              </a:rPr>
              <a:t>Papierkosten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703320"/>
            <a:ext cx="20574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CHF/1000 Bogen
90g Offset: 18.–
135g matt: 32.–
170g glänzend: 41.–
300g Chromo: 68.–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64991" y="3108960"/>
            <a:ext cx="2331720" cy="3383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02151" y="3200400"/>
            <a:ext cx="2057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5D04"/>
                </a:solidFill>
              </a:rPr>
              <a:t>Druckkosten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2151" y="3703320"/>
            <a:ext cx="20574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Rüst: CHF 55.–
≤1000: 0.048/Bogen
1001–5000: 0.034
&gt;5000: 0.024
Beidseitig: ×1.75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15583" y="3108960"/>
            <a:ext cx="2331720" cy="3383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52744" y="3200400"/>
            <a:ext cx="2057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5D04"/>
                </a:solidFill>
              </a:rPr>
              <a:t>Veredelung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52744" y="3703320"/>
            <a:ext cx="20574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Cello eins.: 0.065
Softtouch: 0.095
UV vollfl.: 0.075
Heissfolie: 0.185
Stanzung: 0.085+190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66175" y="3108960"/>
            <a:ext cx="2331720" cy="3383280"/>
          </a:xfrm>
          <a:prstGeom prst="rect">
            <a:avLst/>
          </a:prstGeom>
          <a:solidFill>
            <a:srgbClr val="2D5A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03336" y="3200400"/>
            <a:ext cx="2057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5D04"/>
                </a:solidFill>
              </a:rPr>
              <a:t>Marge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03336" y="3703320"/>
            <a:ext cx="20574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Handelsmarge:
42% auf VP netto
= Aufschlag
72.41% auf SK
Min. CHF 95.–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85D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Step 7 – Angebotserstellung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4A261"/>
                </a:solidFill>
              </a:rPr>
              <a:t>Claude erstellt ein rechtssicheres Schweizer Geschäftsdokument – vollautomatisch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08760"/>
            <a:ext cx="5669280" cy="5029200"/>
          </a:xfrm>
          <a:prstGeom prst="rect">
            <a:avLst/>
          </a:prstGeom>
          <a:solidFill>
            <a:srgbClr val="F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64592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E4A"/>
                </a:solidFill>
              </a:rPr>
              <a:t>Schellenberg Druck AG
Schützenhausstrasse 5 · 8330 Pfäffikon
Telefon: 044 953 11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42316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E4A"/>
                </a:solidFill>
              </a:rPr>
              <a:t>                                    Max Mustermann
                                    Musterstrasse 1
                                    8000 Zürich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004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E4A"/>
                </a:solidFill>
              </a:rPr>
              <a:t>Angebot Nr. DR-2026-47382 – Flyer A5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57600"/>
            <a:ext cx="5303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1. Leistungsbeschreibung
Position 1: Flyer A5, 4/0, 135g matt, 1000 Stk
Nettobetrag exkl. MwSt.:  CHF 285.00
MwSt. 8.1%:                  CHF 23.09
Gesamtbetrag inkl. MwSt.: CHF 308.09
2. Zahlungsbedingungen
30 Tage netto
3. Rechtliche Hinweise
Angebot gültig bis ...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0" y="1508760"/>
            <a:ext cx="4251960" cy="5029200"/>
          </a:xfrm>
          <a:prstGeom prst="rect">
            <a:avLst/>
          </a:prstGeom>
          <a:solidFill>
            <a:srgbClr val="12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0" y="160020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85D04"/>
                </a:solidFill>
              </a:rPr>
              <a:t>Layout-Regeln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2103120"/>
            <a:ext cx="38404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B0C4DE"/>
                </a:solidFill>
              </a:rPr>
              <a:t>✓ Kein Markdown (**,---,###)</a:t>
            </a:r>
          </a:p>
          <a:p>
            <a:r>
              <a:rPr sz="1200">
                <a:solidFill>
                  <a:srgbClr val="B0C4DE"/>
                </a:solidFill>
              </a:rPr>
              <a:t>✓ Kein Tabellen oder Trennlinien</a:t>
            </a:r>
          </a:p>
          <a:p>
            <a:r>
              <a:rPr sz="1200">
                <a:solidFill>
                  <a:srgbClr val="B0C4DE"/>
                </a:solidFill>
              </a:rPr>
              <a:t>✓ Empfänger rechtsbündig</a:t>
            </a:r>
          </a:p>
          <a:p>
            <a:r>
              <a:rPr sz="1200">
                <a:solidFill>
                  <a:srgbClr val="B0C4DE"/>
                </a:solidFill>
              </a:rPr>
              <a:t>✓ Titel fett, normale Gross-/Klein-</a:t>
            </a:r>
          </a:p>
          <a:p>
            <a:r>
              <a:rPr sz="1200">
                <a:solidFill>
                  <a:srgbClr val="B0C4DE"/>
                </a:solidFill>
              </a:rPr>
              <a:t>   schreibung</a:t>
            </a:r>
          </a:p>
          <a:p>
            <a:r>
              <a:rPr sz="1200">
                <a:solidFill>
                  <a:srgbClr val="B0C4DE"/>
                </a:solidFill>
              </a:rPr>
              <a:t>✓ Max. 1 Leerzeile zwischen Abschnitten</a:t>
            </a:r>
          </a:p>
          <a:p>
            <a:r>
              <a:rPr sz="1200">
                <a:solidFill>
                  <a:srgbClr val="B0C4DE"/>
                </a:solidFill>
              </a:rPr>
              <a:t>✓ Max. 2 Seiten</a:t>
            </a:r>
          </a:p>
          <a:p>
            <a:r>
              <a:rPr sz="1200">
                <a:solidFill>
                  <a:srgbClr val="B0C4DE"/>
                </a:solidFill>
              </a:rPr>
              <a:t>✓ MwSt. 8.1% immer separat</a:t>
            </a:r>
          </a:p>
          <a:p>
            <a:r>
              <a:rPr sz="1200">
                <a:solidFill>
                  <a:srgbClr val="B0C4DE"/>
                </a:solidFill>
              </a:rPr>
              <a:t>✓ Preise aus Step 6 direkt eingesetzt</a:t>
            </a:r>
          </a:p>
          <a:p>
            <a:r>
              <a:rPr sz="1200">
                <a:solidFill>
                  <a:srgbClr val="B0C4DE"/>
                </a:solidFill>
              </a:rPr>
              <a:t>✓ Unterschrift: Edgar Glinz</a:t>
            </a:r>
          </a:p>
          <a:p>
            <a:r>
              <a:rPr sz="1200">
                <a:solidFill>
                  <a:srgbClr val="B0C4DE"/>
                </a:solidFill>
              </a:rPr>
              <a:t/>
            </a:r>
          </a:p>
          <a:p>
            <a:r>
              <a:rPr sz="1200">
                <a:solidFill>
                  <a:srgbClr val="B0C4DE"/>
                </a:solidFill>
              </a:rPr>
              <a:t>Input aus Step 6:</a:t>
            </a:r>
          </a:p>
          <a:p>
            <a:r>
              <a:rPr sz="1200">
                <a:solidFill>
                  <a:srgbClr val="B0C4DE"/>
                </a:solidFill>
              </a:rPr>
              <a:t>· verkaufspreis_netto</a:t>
            </a:r>
          </a:p>
          <a:p>
            <a:r>
              <a:rPr sz="1200">
                <a:solidFill>
                  <a:srgbClr val="B0C4DE"/>
                </a:solidFill>
              </a:rPr>
              <a:t>· mwst_betrag</a:t>
            </a:r>
          </a:p>
          <a:p>
            <a:r>
              <a:rPr sz="1200">
                <a:solidFill>
                  <a:srgbClr val="B0C4DE"/>
                </a:solidFill>
              </a:rPr>
              <a:t>· verkaufspreis_brutto</a:t>
            </a:r>
          </a:p>
          <a:p>
            <a:r>
              <a:rPr sz="1200">
                <a:solidFill>
                  <a:srgbClr val="B0C4DE"/>
                </a:solidFill>
              </a:rPr>
              <a:t>· preis_pro_stueck_netto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85D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Step 9 – Human in the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4A261"/>
                </a:solidFill>
              </a:rPr>
              <a:t>Der Mensch bleibt Entscheider – die Maschine bereitet vor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645920"/>
            <a:ext cx="2377440" cy="320040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73736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42316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Angebot
bereit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63240"/>
            <a:ext cx="2194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4DE"/>
                </a:solidFill>
              </a:rPr>
              <a:t>KI hat Offerte
generiert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7432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E85D04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66160" y="1645920"/>
            <a:ext cx="2377440" cy="3200400"/>
          </a:xfrm>
          <a:prstGeom prst="rect">
            <a:avLst/>
          </a:prstGeom>
          <a:solidFill>
            <a:srgbClr val="2B4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173736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42316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Edgar
erhält Mail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063240"/>
            <a:ext cx="2194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4DE"/>
                </a:solidFill>
              </a:rPr>
              <a:t>Content to review:
formatiertes Angebot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27432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E85D04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645920"/>
            <a:ext cx="2377440" cy="3200400"/>
          </a:xfrm>
          <a:prstGeom prst="rect">
            <a:avLst/>
          </a:prstGeom>
          <a:solidFill>
            <a:srgbClr val="1A5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59" y="173736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242316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Freigabe
erteilt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59" y="3063240"/>
            <a:ext cx="2194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4DE"/>
                </a:solidFill>
              </a:rPr>
              <a:t>→ Angebot an
   Kunden senden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869680" y="1645920"/>
            <a:ext cx="2377440" cy="3200400"/>
          </a:xfrm>
          <a:prstGeom prst="rect">
            <a:avLst/>
          </a:prstGeom>
          <a:solidFill>
            <a:srgbClr val="7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19" y="173736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19" y="242316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Abgelehnt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19" y="3063240"/>
            <a:ext cx="2194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4DE"/>
                </a:solidFill>
              </a:rPr>
              <a:t>→ Ablehnungs-Mail
   mit Begründung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5029200"/>
            <a:ext cx="10149840" cy="1508760"/>
          </a:xfrm>
          <a:prstGeom prst="rect">
            <a:avLst/>
          </a:prstGeom>
          <a:solidFill>
            <a:srgbClr val="0D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51206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5D04"/>
                </a:solidFill>
              </a:rPr>
              <a:t>Konfiguration: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532120"/>
            <a:ext cx="9784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Approver: p.glinz96@gmail.com   ·   Content to review: Step 7 Output (Offerte-Text)   ·   Path-Bedingung: Status = Approved / Rejected (exakt)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85D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Herausforderungen &amp; Lösungen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188720"/>
            <a:ext cx="5394960" cy="1600200"/>
          </a:xfrm>
          <a:prstGeom prst="rect">
            <a:avLst/>
          </a:prstGeom>
          <a:solidFill>
            <a:srgbClr val="12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26187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5D04"/>
                </a:solidFill>
              </a:rPr>
              <a:t>Zufällige Preise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6459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9A9A"/>
                </a:solidFill>
              </a:rPr>
              <a:t>✗ AI kalkulierte jeden Run anders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05740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E0B8"/>
                </a:solidFill>
              </a:rPr>
              <a:t>✓ Fixe Preistabellen, kein Ermessensspielraum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0" y="1188720"/>
            <a:ext cx="5394960" cy="1600200"/>
          </a:xfrm>
          <a:prstGeom prst="rect">
            <a:avLst/>
          </a:prstGeom>
          <a:solidFill>
            <a:srgbClr val="12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126187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5D04"/>
                </a:solidFill>
              </a:rPr>
              <a:t>Doppelte Rückfragen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6459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9A9A"/>
                </a:solidFill>
              </a:rPr>
              <a:t>✗ '4/0 = einseitig' wurde nochmals gefragt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205740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E0B8"/>
                </a:solidFill>
              </a:rPr>
              <a:t>✓ Interpretationsregeln im Prompt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971800"/>
            <a:ext cx="5394960" cy="1600200"/>
          </a:xfrm>
          <a:prstGeom prst="rect">
            <a:avLst/>
          </a:prstGeom>
          <a:solidFill>
            <a:srgbClr val="12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04495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5D04"/>
                </a:solidFill>
              </a:rPr>
              <a:t>Thread blind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4290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9A9A"/>
                </a:solidFill>
              </a:rPr>
              <a:t>✗ AI las nur neueste Mail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84048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E0B8"/>
                </a:solidFill>
              </a:rPr>
              <a:t>✓ Explizites Thread-Reading, Verlauf auswerten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2971800"/>
            <a:ext cx="5394960" cy="1600200"/>
          </a:xfrm>
          <a:prstGeom prst="rect">
            <a:avLst/>
          </a:prstGeom>
          <a:solidFill>
            <a:srgbClr val="12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20840" y="304495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5D04"/>
                </a:solidFill>
              </a:rPr>
              <a:t>Zapier Chip-Fehler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34290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9A9A"/>
                </a:solidFill>
              </a:rPr>
              <a:t>✗ {{...}} als Text → kein Wert erkannt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384048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E0B8"/>
                </a:solidFill>
              </a:rPr>
              <a:t>✓ Chip-Picker statt manueller Eingabe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4754880"/>
            <a:ext cx="5394960" cy="1600200"/>
          </a:xfrm>
          <a:prstGeom prst="rect">
            <a:avLst/>
          </a:prstGeom>
          <a:solidFill>
            <a:srgbClr val="12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82803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5D04"/>
                </a:solidFill>
              </a:rPr>
              <a:t>Preise fehlen Offerte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2120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9A9A"/>
                </a:solidFill>
              </a:rPr>
              <a:t>✗ Step 7 kannte Step 6 Werte nicht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562356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E0B8"/>
                </a:solidFill>
              </a:rPr>
              <a:t>✓ Input Fields mit 4 Preis-Chips aus Step 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0" y="4754880"/>
            <a:ext cx="5394960" cy="1600200"/>
          </a:xfrm>
          <a:prstGeom prst="rect">
            <a:avLst/>
          </a:prstGeom>
          <a:solidFill>
            <a:srgbClr val="12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20840" y="482803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5D04"/>
                </a:solidFill>
              </a:rPr>
              <a:t>HitL zeigt falsch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52120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9A9A"/>
                </a:solidFill>
              </a:rPr>
              <a:t>✗ Kunden-Mail statt Angebot zur Freigabe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562356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E0B8"/>
                </a:solidFill>
              </a:rPr>
              <a:t>✓ Content to review → Step 7 Output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85D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Key Learnings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188720"/>
            <a:ext cx="5303520" cy="1600200"/>
          </a:xfrm>
          <a:prstGeom prst="rect">
            <a:avLst/>
          </a:prstGeom>
          <a:solidFill>
            <a:srgbClr val="12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28016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85D04"/>
                </a:solidFill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28016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Fixwerte statt Ranges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1783080"/>
            <a:ext cx="4297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</a:rPr>
              <a:t>AI-Kalkulationen brauchen exakte Preistabellen – keine Spielräume.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2240" y="1188720"/>
            <a:ext cx="5303520" cy="1600200"/>
          </a:xfrm>
          <a:prstGeom prst="rect">
            <a:avLst/>
          </a:prstGeom>
          <a:solidFill>
            <a:srgbClr val="12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28016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85D04"/>
                </a:solidFill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28016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Thread-Kontext ist alles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1783080"/>
            <a:ext cx="4297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</a:rPr>
              <a:t>Der gesamte E-Mail-Verlauf muss ausgewertet werden, nicht nur die letzte Mail.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971800"/>
            <a:ext cx="5303520" cy="1600200"/>
          </a:xfrm>
          <a:prstGeom prst="rect">
            <a:avLst/>
          </a:prstGeom>
          <a:solidFill>
            <a:srgbClr val="12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06324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85D04"/>
                </a:solidFill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306324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Flache JSON-Struktur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3566160"/>
            <a:ext cx="4297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</a:rPr>
              <a:t>Zapier braucht Top-Level-Felder – verschachtelte Objekte können nicht direkt gemappt werden.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2971800"/>
            <a:ext cx="5303520" cy="1600200"/>
          </a:xfrm>
          <a:prstGeom prst="rect">
            <a:avLst/>
          </a:prstGeom>
          <a:solidFill>
            <a:srgbClr val="12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306324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85D04"/>
                </a:solidFill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306324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Chips ≠ Plaintext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3566160"/>
            <a:ext cx="4297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</a:rPr>
              <a:t>In Zapier niemals {{...}} manuell tippen – immer den Chip-Picker verwenden.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4754880"/>
            <a:ext cx="5303520" cy="1600200"/>
          </a:xfrm>
          <a:prstGeom prst="rect">
            <a:avLst/>
          </a:prstGeom>
          <a:solidFill>
            <a:srgbClr val="12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84632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85D04"/>
                </a:solidFill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484632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Input Fields explizit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5349240"/>
            <a:ext cx="4297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</a:rPr>
              <a:t>Jeder AI-Step braucht jeden einzelnen Input-Wert als gemappten Chip.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92240" y="4754880"/>
            <a:ext cx="5303520" cy="1600200"/>
          </a:xfrm>
          <a:prstGeom prst="rect">
            <a:avLst/>
          </a:prstGeom>
          <a:solidFill>
            <a:srgbClr val="12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29400" y="484632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85D04"/>
                </a:solidFill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484632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HitL nur live testbar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5349240"/>
            <a:ext cx="4297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</a:rPr>
              <a:t>Approve/Reject funktioniert nur bei veröffentlichtem Zap mit echtem Trigger.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85D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Status &amp; Nächste Schritte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188720"/>
            <a:ext cx="4846320" cy="5303520"/>
          </a:xfrm>
          <a:prstGeom prst="rect">
            <a:avLst/>
          </a:prstGeom>
          <a:solidFill>
            <a:srgbClr val="12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28016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85D04"/>
                </a:solidFill>
              </a:rPr>
              <a:t>Aktueller Status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✅  Gmail-Trigger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18288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657A"/>
                </a:solidFill>
              </a:rPr>
              <a:t>Live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✅  AI Analyse (Step 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3774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657A"/>
                </a:solidFill>
              </a:rPr>
              <a:t>Thread-aware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9260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✅  Paths Vollst./Unvollst.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29260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657A"/>
                </a:solidFill>
              </a:rPr>
              <a:t>Konfiguriert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4747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✅  Kalkulation (Step 6)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34747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657A"/>
                </a:solidFill>
              </a:rPr>
              <a:t>Fixpreise, deterministisch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0233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✅  Offerte (Step 7)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023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657A"/>
                </a:solidFill>
              </a:rPr>
              <a:t>Mit Kalkulations-Preisen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5720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✅  Human in the Loop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45720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657A"/>
                </a:solidFill>
              </a:rPr>
              <a:t>Approval-Mail aktiv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51206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⚠️  Path nach HitL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51206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657A"/>
                </a:solidFill>
              </a:rPr>
              <a:t>Condition prüfen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6692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⚠️  Rückfrage-Mail To-Feld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0" y="56692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657A"/>
                </a:solidFill>
              </a:rPr>
              <a:t>Chip umstellen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1188720"/>
            <a:ext cx="4846320" cy="5303520"/>
          </a:xfrm>
          <a:prstGeom prst="rect">
            <a:avLst/>
          </a:prstGeom>
          <a:solidFill>
            <a:srgbClr val="12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28016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52B788"/>
                </a:solidFill>
              </a:rPr>
              <a:t>Nächste Schritte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182880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</a:rPr>
              <a:t>→ To-Feld Step 16: Chip auf kunde_email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246888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</a:rPr>
              <a:t>→ Path Step 11/13: Approved / Rejected prüfen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310896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</a:rPr>
              <a:t>→ Live-Test: vollständiger Auftrag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3749039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</a:rPr>
              <a:t>→ HitL Approve → Angebot-Versand testen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438912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</a:rPr>
              <a:t>→ Google Docs: PDF-Anhang für Kunden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502920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</a:rPr>
              <a:t>→ Multi-Produkt-Aufträge validieren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5669279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</a:rPr>
              <a:t>→ Sonderprodukte ergänzen (Pappbecher etc.)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" y="6492240"/>
            <a:ext cx="10149840" cy="182880"/>
          </a:xfrm>
          <a:prstGeom prst="rect">
            <a:avLst/>
          </a:prstGeom>
          <a:solidFill>
            <a:srgbClr val="E85D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6492240"/>
            <a:ext cx="10149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5657A"/>
                </a:solidFill>
              </a:rPr>
              <a:t>Schellenberg Druck AG · Schützenhausstrasse 5 · 8330 Pfäffikon · schellenbergdruck.ch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