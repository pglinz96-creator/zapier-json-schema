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4A261"/>
                </a:solidFill>
              </a:rPr>
              <a:t>Schellenberg Druck 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KI-gestützte
Auftragsannahme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4A261"/>
                </a:solidFill>
              </a:rPr>
              <a:t>Von der Kundenanfrage zum fertigen Angebot – vollautomatisch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Zapier · Claude AI · Gmail · Human in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657A"/>
                </a:solidFill>
              </a:rPr>
              <a:t>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Ausgangslage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4846320" cy="438912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</a:rPr>
              <a:t>Vorher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CDDEE"/>
                </a:solidFill>
              </a:rPr>
              <a:t>✗  Jede Anfrage manuell lesen &amp; bewerten</a:t>
            </a:r>
          </a:p>
          <a:p>
            <a:r>
              <a:rPr sz="1500">
                <a:solidFill>
                  <a:srgbClr val="CCDDEE"/>
                </a:solidFill>
              </a:rPr>
              <a:t>✗  Preise von Hand kalkulieren</a:t>
            </a:r>
          </a:p>
          <a:p>
            <a:r>
              <a:rPr sz="1500">
                <a:solidFill>
                  <a:srgbClr val="CCDDEE"/>
                </a:solidFill>
              </a:rPr>
              <a:t>✗  Angebote manuell verfassen</a:t>
            </a:r>
          </a:p>
          <a:p>
            <a:r>
              <a:rPr sz="1500">
                <a:solidFill>
                  <a:srgbClr val="CCDDEE"/>
                </a:solidFill>
              </a:rPr>
              <a:t>✗  Hohes Fehlerrisiko</a:t>
            </a:r>
          </a:p>
          <a:p>
            <a:r>
              <a:rPr sz="1500">
                <a:solidFill>
                  <a:srgbClr val="CCDDEE"/>
                </a:solidFill>
              </a:rPr>
              <a:t>✗  Zeitaufwand: 30–60 min pro Auftrag</a:t>
            </a:r>
          </a:p>
          <a:p>
            <a:r>
              <a:rPr sz="1500">
                <a:solidFill>
                  <a:srgbClr val="CCDDEE"/>
                </a:solidFill>
              </a:rPr>
              <a:t>✗  Keine Skalierbarkeit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88720"/>
            <a:ext cx="4846320" cy="4389120"/>
          </a:xfrm>
          <a:prstGeom prst="rect">
            <a:avLst/>
          </a:prstGeom>
          <a:solidFill>
            <a:srgbClr val="0D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2B788"/>
                </a:solidFill>
              </a:rPr>
              <a:t>Nachher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D8BE"/>
                </a:solidFill>
              </a:rPr>
              <a:t>✓  AI liest &amp; analysiert automatisch</a:t>
            </a:r>
          </a:p>
          <a:p>
            <a:r>
              <a:rPr sz="1500">
                <a:solidFill>
                  <a:srgbClr val="A8D8BE"/>
                </a:solidFill>
              </a:rPr>
              <a:t>✓  Rückfragen automatisch versenden</a:t>
            </a:r>
          </a:p>
          <a:p>
            <a:r>
              <a:rPr sz="1500">
                <a:solidFill>
                  <a:srgbClr val="A8D8BE"/>
                </a:solidFill>
              </a:rPr>
              <a:t>✓  Preise deterministisch kalkuliert</a:t>
            </a:r>
          </a:p>
          <a:p>
            <a:r>
              <a:rPr sz="1500">
                <a:solidFill>
                  <a:srgbClr val="A8D8BE"/>
                </a:solidFill>
              </a:rPr>
              <a:t>✓  Angebot KI-generiert</a:t>
            </a:r>
          </a:p>
          <a:p>
            <a:r>
              <a:rPr sz="1500">
                <a:solidFill>
                  <a:srgbClr val="A8D8BE"/>
                </a:solidFill>
              </a:rPr>
              <a:t>✓  Mensch prüft nur noch &amp; gibt frei</a:t>
            </a:r>
          </a:p>
          <a:p>
            <a:r>
              <a:rPr sz="1500">
                <a:solidFill>
                  <a:srgbClr val="A8D8BE"/>
                </a:solidFill>
              </a:rPr>
              <a:t>✓  Skalierbar, konsistent, schnell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0175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5D04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Workflow-Übersicht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554480" cy="347472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Gmail
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Neue E-Mail
eingang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371600"/>
            <a:ext cx="1554480" cy="347472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
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Daten extrahieren
Thread lesen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1554480" cy="3474720"/>
          </a:xfrm>
          <a:prstGeom prst="rect">
            <a:avLst/>
          </a:prstGeom>
          <a:solidFill>
            <a:srgbClr val="6B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Path
Entscheid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Vollständig?
Ja / Nein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1554480" cy="3474720"/>
          </a:xfrm>
          <a:prstGeom prst="rect">
            <a:avLst/>
          </a:prstGeom>
          <a:solidFill>
            <a:srgbClr val="1A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</a:rPr>
              <a:t>Step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Kalkulation
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Fixpreise
berechnen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1371600"/>
            <a:ext cx="1554480" cy="3474720"/>
          </a:xfrm>
          <a:prstGeom prst="rect">
            <a:avLst/>
          </a:prstGeom>
          <a:solidFill>
            <a:srgbClr val="1A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</a:rPr>
              <a:t>Step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Offerte
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Angebot
generieren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1371600"/>
            <a:ext cx="1554480" cy="3474720"/>
          </a:xfrm>
          <a:prstGeom prst="rect">
            <a:avLst/>
          </a:prstGeom>
          <a:solidFill>
            <a:srgbClr val="5C2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</a:rPr>
              <a:t>Step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Human in
the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Edgar prüft
&amp; gibt frei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120640"/>
            <a:ext cx="4572000" cy="1005840"/>
          </a:xfrm>
          <a:prstGeom prst="rect">
            <a:avLst/>
          </a:prstGeom>
          <a:solidFill>
            <a:srgbClr val="6B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212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261"/>
                </a:solidFill>
              </a:rPr>
              <a:t>Unvollständig → Automatische Rückfrage an Kunden (Step 16)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5120640"/>
            <a:ext cx="5394960" cy="1005840"/>
          </a:xfrm>
          <a:prstGeom prst="rect">
            <a:avLst/>
          </a:prstGeom>
          <a:solidFill>
            <a:srgbClr val="1A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5212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B8"/>
                </a:solidFill>
              </a:rPr>
              <a:t>Vollständig → Kalkulation → Offerte → Freigabe → Versand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2 – AI Auftragsanalyse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</a:rPr>
              <a:t>Claude analysiert den gesamten E-Mail-Thread und extrahiert alle Auftragsdaten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</a:rPr>
              <a:t>Pflichtfelder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0C4DE"/>
                </a:solidFill>
              </a:rPr>
              <a:t>Kundendaten: Name, Firma, Adresse, Telefon, E-Mail</a:t>
            </a:r>
          </a:p>
          <a:p>
            <a:r>
              <a:rPr sz="1300">
                <a:solidFill>
                  <a:srgbClr val="B0C4DE"/>
                </a:solidFill>
              </a:rPr>
              <a:t/>
            </a:r>
          </a:p>
          <a:p>
            <a:r>
              <a:rPr sz="1300">
                <a:solidFill>
                  <a:srgbClr val="B0C4DE"/>
                </a:solidFill>
              </a:rPr>
              <a:t>Auftragsdaten:</a:t>
            </a:r>
          </a:p>
          <a:p>
            <a:r>
              <a:rPr sz="1300">
                <a:solidFill>
                  <a:srgbClr val="B0C4DE"/>
                </a:solidFill>
              </a:rPr>
              <a:t>· Produkt &amp; Format</a:t>
            </a:r>
          </a:p>
          <a:p>
            <a:r>
              <a:rPr sz="1300">
                <a:solidFill>
                  <a:srgbClr val="B0C4DE"/>
                </a:solidFill>
              </a:rPr>
              <a:t>· Auflage (Stückzahl)</a:t>
            </a:r>
          </a:p>
          <a:p>
            <a:r>
              <a:rPr sz="1300">
                <a:solidFill>
                  <a:srgbClr val="B0C4DE"/>
                </a:solidFill>
              </a:rPr>
              <a:t>· Farbigkeit (z.B. 4/0 = einseitig)</a:t>
            </a:r>
          </a:p>
          <a:p>
            <a:r>
              <a:rPr sz="1300">
                <a:solidFill>
                  <a:srgbClr val="B0C4DE"/>
                </a:solidFill>
              </a:rPr>
              <a:t>· Material &amp; Grammatur</a:t>
            </a:r>
          </a:p>
          <a:p>
            <a:r>
              <a:rPr sz="1300">
                <a:solidFill>
                  <a:srgbClr val="B0C4DE"/>
                </a:solidFill>
              </a:rPr>
              <a:t>· Veredelung (oder keine)</a:t>
            </a:r>
          </a:p>
          <a:p>
            <a:r>
              <a:rPr sz="1300">
                <a:solidFill>
                  <a:srgbClr val="B0C4DE"/>
                </a:solidFill>
              </a:rPr>
              <a:t>· Liefertermin</a:t>
            </a:r>
          </a:p>
          <a:p>
            <a:r>
              <a:rPr sz="1300">
                <a:solidFill>
                  <a:srgbClr val="B0C4DE"/>
                </a:solidFill>
              </a:rPr>
              <a:t>· Druckdaten vorhanden?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45920"/>
            <a:ext cx="4846320" cy="448056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2B788"/>
                </a:solidFill>
              </a:rPr>
              <a:t>Intelligente Regeln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D8BE"/>
                </a:solidFill>
              </a:rPr>
              <a:t>Thread-Auswertung: alle Mails im Verlauf</a:t>
            </a:r>
          </a:p>
          <a:p>
            <a:r>
              <a:rPr sz="1300">
                <a:solidFill>
                  <a:srgbClr val="A8D8BE"/>
                </a:solidFill>
              </a:rPr>
              <a:t>→ bei Widerspruch gilt neuere Angabe</a:t>
            </a:r>
          </a:p>
          <a:p>
            <a:r>
              <a:rPr sz="1300">
                <a:solidFill>
                  <a:srgbClr val="A8D8BE"/>
                </a:solidFill>
              </a:rPr>
              <a:t/>
            </a:r>
          </a:p>
          <a:p>
            <a:r>
              <a:rPr sz="1300">
                <a:solidFill>
                  <a:srgbClr val="A8D8BE"/>
                </a:solidFill>
              </a:rPr>
              <a:t>Keine Doppelfragen:</a:t>
            </a:r>
          </a:p>
          <a:p>
            <a:r>
              <a:rPr sz="1300">
                <a:solidFill>
                  <a:srgbClr val="A8D8BE"/>
                </a:solidFill>
              </a:rPr>
              <a:t>· 4/0 = einseitig (nicht nochmal fragen)</a:t>
            </a:r>
          </a:p>
          <a:p>
            <a:r>
              <a:rPr sz="1300">
                <a:solidFill>
                  <a:srgbClr val="A8D8BE"/>
                </a:solidFill>
              </a:rPr>
              <a:t>· 4/4 = beidseitig (klar)</a:t>
            </a:r>
          </a:p>
          <a:p>
            <a:r>
              <a:rPr sz="1300">
                <a:solidFill>
                  <a:srgbClr val="A8D8BE"/>
                </a:solidFill>
              </a:rPr>
              <a:t>· 'keine Veredelung' = direkt eintragen</a:t>
            </a:r>
          </a:p>
          <a:p>
            <a:r>
              <a:rPr sz="1300">
                <a:solidFill>
                  <a:srgbClr val="A8D8BE"/>
                </a:solidFill>
              </a:rPr>
              <a:t/>
            </a:r>
          </a:p>
          <a:p>
            <a:r>
              <a:rPr sz="1300">
                <a:solidFill>
                  <a:srgbClr val="A8D8BE"/>
                </a:solidFill>
              </a:rPr>
              <a:t>E-Mail autom. aus Absender-Feld</a:t>
            </a:r>
          </a:p>
          <a:p>
            <a:r>
              <a:rPr sz="1300">
                <a:solidFill>
                  <a:srgbClr val="A8D8BE"/>
                </a:solidFill>
              </a:rPr>
              <a:t/>
            </a:r>
          </a:p>
          <a:p>
            <a:r>
              <a:rPr sz="1300">
                <a:solidFill>
                  <a:srgbClr val="A8D8BE"/>
                </a:solidFill>
              </a:rPr>
              <a:t>Ton: 1. Mail = freundlich | Folge = kurz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6 – Preiskalkulation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</a:rPr>
              <a:t>Deterministisch · Fixwerte · Keine Ermessensspielräume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149840" cy="1417320"/>
          </a:xfrm>
          <a:prstGeom prst="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Gesamtbogen = AUFRUNDEN((Auflage × 1.08) / 50) × 50   |   VP netto = Selbstkosten × 1.7241   →   aufrunden auf CHF 5.–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Selbstkosten = Papier + Druck + Veredelung + Layout + Expresszuschlag   |   MwSt. 8.1%   |   Min. CHF 95.–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08960"/>
            <a:ext cx="2331720" cy="3383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D04"/>
                </a:solidFill>
              </a:rPr>
              <a:t>Papierkosten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03320"/>
            <a:ext cx="2057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CHF/1000 Bogen
90g Offset: 18.–
135g matt: 32.–
170g glänzend: 41.–
300g Chromo: 68.–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1" y="3108960"/>
            <a:ext cx="2331720" cy="3383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1" y="32004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D04"/>
                </a:solidFill>
              </a:rPr>
              <a:t>Druckkosten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1" y="3703320"/>
            <a:ext cx="2057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Rüst: CHF 55.–
≤1000: 0.048/Bogen
1001–5000: 0.034
&gt;5000: 0.024
Beidseitig: ×1.75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5583" y="3108960"/>
            <a:ext cx="2331720" cy="3383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52744" y="32004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D04"/>
                </a:solidFill>
              </a:rPr>
              <a:t>Veredelung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2744" y="3703320"/>
            <a:ext cx="2057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Cello eins.: 0.065
Softtouch: 0.095
UV vollfl.: 0.075
Heissfolie: 0.185
Stanzung: 0.085+190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5" y="3108960"/>
            <a:ext cx="2331720" cy="3383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32004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D04"/>
                </a:solidFill>
              </a:rPr>
              <a:t>Marge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3703320"/>
            <a:ext cx="2057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Handelsmarge:
42% auf VP netto
= Aufschlag
72.41% auf SK
Min. CHF 95.–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7 – Angebotserstellung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</a:rPr>
              <a:t>Claude erstellt ein rechtssicheres Schweizer Geschäftsdokument – vollautomatisch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5669280" cy="50292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4A"/>
                </a:solidFill>
              </a:rPr>
              <a:t>Schellenberg Druck AG
Schützenhausstrasse 5 · 8330 Pfäffikon
Telefon: 044 953 11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4A"/>
                </a:solidFill>
              </a:rPr>
              <a:t>                                    Max Mustermann
                                    Musterstrasse 1
                                    8000 Zürich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</a:rPr>
              <a:t>Angebot Nr. DR-2026-47382 – Flyer 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1. Leistungsbeschreibung
Position 1: Flyer A5, 4/0, 135g matt, 1000 Stk
Nettobetrag exkl. MwSt.:  CHF 285.00
MwSt. 8.1%:                  CHF 23.09
Gesamtbetrag inkl. MwSt.: CHF 308.09
2. Zahlungsbedingungen
30 Tage netto
3. Rechtliche Hinweise
Angebot gültig bis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508760"/>
            <a:ext cx="4251960" cy="5029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600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5D04"/>
                </a:solidFill>
              </a:rPr>
              <a:t>Layout-Regeln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0312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C4DE"/>
                </a:solidFill>
              </a:rPr>
              <a:t>✓ Kein Markdown (**,---,###)</a:t>
            </a:r>
          </a:p>
          <a:p>
            <a:r>
              <a:rPr sz="1200">
                <a:solidFill>
                  <a:srgbClr val="B0C4DE"/>
                </a:solidFill>
              </a:rPr>
              <a:t>✓ Kein Tabellen oder Trennlinien</a:t>
            </a:r>
          </a:p>
          <a:p>
            <a:r>
              <a:rPr sz="1200">
                <a:solidFill>
                  <a:srgbClr val="B0C4DE"/>
                </a:solidFill>
              </a:rPr>
              <a:t>✓ Empfänger rechtsbündig</a:t>
            </a:r>
          </a:p>
          <a:p>
            <a:r>
              <a:rPr sz="1200">
                <a:solidFill>
                  <a:srgbClr val="B0C4DE"/>
                </a:solidFill>
              </a:rPr>
              <a:t>✓ Titel fett, normale Gross-/Klein-</a:t>
            </a:r>
          </a:p>
          <a:p>
            <a:r>
              <a:rPr sz="1200">
                <a:solidFill>
                  <a:srgbClr val="B0C4DE"/>
                </a:solidFill>
              </a:rPr>
              <a:t>   schreibung</a:t>
            </a:r>
          </a:p>
          <a:p>
            <a:r>
              <a:rPr sz="1200">
                <a:solidFill>
                  <a:srgbClr val="B0C4DE"/>
                </a:solidFill>
              </a:rPr>
              <a:t>✓ Max. 1 Leerzeile zwischen Abschnitten</a:t>
            </a:r>
          </a:p>
          <a:p>
            <a:r>
              <a:rPr sz="1200">
                <a:solidFill>
                  <a:srgbClr val="B0C4DE"/>
                </a:solidFill>
              </a:rPr>
              <a:t>✓ Max. 2 Seiten</a:t>
            </a:r>
          </a:p>
          <a:p>
            <a:r>
              <a:rPr sz="1200">
                <a:solidFill>
                  <a:srgbClr val="B0C4DE"/>
                </a:solidFill>
              </a:rPr>
              <a:t>✓ MwSt. 8.1% immer separat</a:t>
            </a:r>
          </a:p>
          <a:p>
            <a:r>
              <a:rPr sz="1200">
                <a:solidFill>
                  <a:srgbClr val="B0C4DE"/>
                </a:solidFill>
              </a:rPr>
              <a:t>✓ Preise aus Step 6 direkt eingesetzt</a:t>
            </a:r>
          </a:p>
          <a:p>
            <a:r>
              <a:rPr sz="1200">
                <a:solidFill>
                  <a:srgbClr val="B0C4DE"/>
                </a:solidFill>
              </a:rPr>
              <a:t>✓ Unterschrift: Edgar Glinz</a:t>
            </a:r>
          </a:p>
          <a:p>
            <a:r>
              <a:rPr sz="1200">
                <a:solidFill>
                  <a:srgbClr val="B0C4DE"/>
                </a:solidFill>
              </a:rPr>
              <a:t/>
            </a:r>
          </a:p>
          <a:p>
            <a:r>
              <a:rPr sz="1200">
                <a:solidFill>
                  <a:srgbClr val="B0C4DE"/>
                </a:solidFill>
              </a:rPr>
              <a:t>Input aus Step 6:</a:t>
            </a:r>
          </a:p>
          <a:p>
            <a:r>
              <a:rPr sz="1200">
                <a:solidFill>
                  <a:srgbClr val="B0C4DE"/>
                </a:solidFill>
              </a:rPr>
              <a:t>· verkaufspreis_netto</a:t>
            </a:r>
          </a:p>
          <a:p>
            <a:r>
              <a:rPr sz="1200">
                <a:solidFill>
                  <a:srgbClr val="B0C4DE"/>
                </a:solidFill>
              </a:rPr>
              <a:t>· mwst_betrag</a:t>
            </a:r>
          </a:p>
          <a:p>
            <a:r>
              <a:rPr sz="1200">
                <a:solidFill>
                  <a:srgbClr val="B0C4DE"/>
                </a:solidFill>
              </a:rPr>
              <a:t>· verkaufspreis_brutto</a:t>
            </a:r>
          </a:p>
          <a:p>
            <a:r>
              <a:rPr sz="1200">
                <a:solidFill>
                  <a:srgbClr val="B0C4DE"/>
                </a:solidFill>
              </a:rPr>
              <a:t>· preis_pro_stueck_netto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9 – Human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</a:rPr>
              <a:t>Der Mensch bleibt Entscheider – die Maschine bereitet vor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377440" cy="3200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Angebot
bereit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KI hat Offerte
generiert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2377440" cy="320040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Edgar
erhält 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Content to review:
formatiertes Angebot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377440" cy="3200400"/>
          </a:xfrm>
          <a:prstGeom prst="rect">
            <a:avLst/>
          </a:prstGeom>
          <a:solidFill>
            <a:srgbClr val="1A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4231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Freigabe
erteilt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063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→ Angebot an
   Kunden senden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645920"/>
            <a:ext cx="2377440" cy="3200400"/>
          </a:xfrm>
          <a:prstGeom prst="rect">
            <a:avLst/>
          </a:prstGeom>
          <a:solidFill>
            <a:srgbClr val="7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4231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Abgelehnt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3063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→ Ablehnungs-Mail
   mit Begründung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029200"/>
            <a:ext cx="10149840" cy="1508760"/>
          </a:xfrm>
          <a:prstGeom prst="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Konfiguration: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Approver: p.glinz96@gmail.com   ·   Content to review: Step 7 Output (Offerte-Text)   ·   Path-Bedingung: Status = Approved / Rejected (exakt)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Herausforderungen &amp; Lösungen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539496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618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Zufällige Preise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A9A"/>
                </a:solidFill>
              </a:rPr>
              <a:t>✗ AI kalkulierte jeden Run anders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B8"/>
                </a:solidFill>
              </a:rPr>
              <a:t>✓ Fixe Preistabellen, kein Ermessensspielraum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188720"/>
            <a:ext cx="539496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2618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Doppelte Rückfragen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A9A"/>
                </a:solidFill>
              </a:rPr>
              <a:t>✗ '4/0 = einseitig' wurde nochmals gefragt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B8"/>
                </a:solidFill>
              </a:rPr>
              <a:t>✓ Interpretationsregeln im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71800"/>
            <a:ext cx="539496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449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Thread blind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29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A9A"/>
                </a:solidFill>
              </a:rPr>
              <a:t>✗ AI las nur neueste 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B8"/>
                </a:solidFill>
              </a:rPr>
              <a:t>✓ Explizites Thread-Reading, Verlauf auswerten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971800"/>
            <a:ext cx="539496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0449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Zapier Chip-Fehler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429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A9A"/>
                </a:solidFill>
              </a:rPr>
              <a:t>✗ {{...}} als Text → kein Wert erkannt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840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B8"/>
                </a:solidFill>
              </a:rPr>
              <a:t>✓ Chip-Picker statt manueller Eingabe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754880"/>
            <a:ext cx="539496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280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Preise fehlen Offerte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212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A9A"/>
                </a:solidFill>
              </a:rPr>
              <a:t>✗ Step 7 kannte Step 6 Werte nicht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623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B8"/>
                </a:solidFill>
              </a:rPr>
              <a:t>✓ Input Fields mit 4 Preis-Chips aus Step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754880"/>
            <a:ext cx="539496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8280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HitL zeigt falsch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212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A9A"/>
                </a:solidFill>
              </a:rPr>
              <a:t>✗ Kunden-Mail statt Angebot zur Freigabe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623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B8"/>
                </a:solidFill>
              </a:rPr>
              <a:t>✓ Content to review → Step 7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530352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280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Fixwerte statt Ranges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AI-Kalkulationen brauchen exakte Preistabellen – keine Spielräume.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188720"/>
            <a:ext cx="530352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280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Thread-Kontext ist alles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8308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Der gesamte E-Mail-Verlauf muss ausgewertet werden, nicht nur die letzte Mail.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71800"/>
            <a:ext cx="530352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63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063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Flache JSON-Struktur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6616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Zapier braucht Top-Level-Felder – verschachtelte Objekte können nicht direkt gemappt werden.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971800"/>
            <a:ext cx="530352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063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63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Chips ≠ Plaintext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6616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In Zapier niemals {{...}} manuell tippen – immer den Chip-Picker verwenden.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754880"/>
            <a:ext cx="530352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46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846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Input Fields explizit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34924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Jeder AI-Step braucht jeden einzelnen Input-Wert als gemappten Chip.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754880"/>
            <a:ext cx="5303520" cy="1600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846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846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HitL nur live testbar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34924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Approve/Reject funktioniert nur bei veröffentlichtem Zap mit echtem Trigger.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Status &amp; Nächste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4846320" cy="530352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</a:rPr>
              <a:t>Aktueller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Gmail-Trigger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AI Analyse (Step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Thread-aware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Paths Vollst./Unvollst.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Konfiguriert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Kalkulation (Step 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Fixpreise, deterministisch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Offerte (Step 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Mit Kalkulations-Preisen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Human in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Approval-Mail aktiv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⚠️  Path nach HitL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120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Condition prüfen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⚠️  Rückfrage-Mail To-Feld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669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Chip umstellen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188720"/>
            <a:ext cx="4846320" cy="530352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280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2B788"/>
                </a:solidFill>
              </a:rPr>
              <a:t>Nächste Schritte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8288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→ To-Feld Step 16: Chip auf kunde_email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4688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→ Path Step 11/13: Approved / Rejected prüfen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1089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→ Live-Test: vollständiger Auftrag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74903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→ HitL Approve → Angebot-Versand testen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891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→ Google Docs: PDF-Anhang für Kunden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29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→ Multi-Produkt-Aufträge validieren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66927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→ Sonderprodukte ergänzen (Pappbecher etc.)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492240"/>
            <a:ext cx="10149840" cy="1828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4922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Schellenberg Druck AG · Schützenhausstrasse 5 · 8330 Pfäffikon · schellenbergdruck.ch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Von Zapier zu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</a:rPr>
              <a:t>Phase 2 – Plattformwechsel &amp; Architekturentscheid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4846320" cy="4572000"/>
          </a:xfrm>
          <a:prstGeom prst="rect">
            <a:avLst/>
          </a:prstGeom>
          <a:solidFill>
            <a:srgbClr val="3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A5A"/>
                </a:solidFill>
              </a:rPr>
              <a:t>Zapier – Limitierungen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CCBB"/>
                </a:solidFill>
              </a:rPr>
              <a:t>✗  JSON-Arrays nicht nativ unterstützt</a:t>
            </a:r>
          </a:p>
          <a:p>
            <a:r>
              <a:rPr sz="1300">
                <a:solidFill>
                  <a:srgbClr val="FFCCBB"/>
                </a:solidFill>
              </a:rPr>
              <a:t>✗  Flat Fields nötig (produkt_1...5)</a:t>
            </a:r>
          </a:p>
          <a:p>
            <a:r>
              <a:rPr sz="1300">
                <a:solidFill>
                  <a:srgbClr val="FFCCBB"/>
                </a:solidFill>
              </a:rPr>
              <a:t>✗  Formatter für Textformatierung unzureichend</a:t>
            </a:r>
          </a:p>
          <a:p>
            <a:r>
              <a:rPr sz="1300">
                <a:solidFill>
                  <a:srgbClr val="FFCCBB"/>
                </a:solidFill>
              </a:rPr>
              <a:t>✗  HitL: Decision-Feld 'approved'/'rejected'</a:t>
            </a:r>
          </a:p>
          <a:p>
            <a:r>
              <a:rPr sz="1300">
                <a:solidFill>
                  <a:srgbClr val="FFCCBB"/>
                </a:solidFill>
              </a:rPr>
              <a:t>   oft falsch konfiguriert</a:t>
            </a:r>
          </a:p>
          <a:p>
            <a:r>
              <a:rPr sz="1300">
                <a:solidFill>
                  <a:srgbClr val="FFCCBB"/>
                </a:solidFill>
              </a:rPr>
              <a:t>✗  Hohe Kosten pro Task/Run</a:t>
            </a:r>
          </a:p>
          <a:p>
            <a:r>
              <a:rPr sz="1300">
                <a:solidFill>
                  <a:srgbClr val="FFCCBB"/>
                </a:solidFill>
              </a:rPr>
              <a:t>✗  Keine Code-Nodes (kein Python/JS)</a:t>
            </a:r>
          </a:p>
          <a:p>
            <a:r>
              <a:rPr sz="1300">
                <a:solidFill>
                  <a:srgbClr val="FFCCBB"/>
                </a:solidFill>
              </a:rPr>
              <a:t>✗  Begrenzte Debugging-Möglichkeiten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383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4846320" cy="4572000"/>
          </a:xfrm>
          <a:prstGeom prst="rect">
            <a:avLst/>
          </a:prstGeom>
          <a:solidFill>
            <a:srgbClr val="0D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2B788"/>
                </a:solidFill>
              </a:rPr>
              <a:t>n8n – Vorteile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D8BE"/>
                </a:solidFill>
              </a:rPr>
              <a:t>✓  JSON-Arrays nativ – kein Flat-Field-Hack</a:t>
            </a:r>
          </a:p>
          <a:p>
            <a:r>
              <a:rPr sz="1300">
                <a:solidFill>
                  <a:srgbClr val="A8D8BE"/>
                </a:solidFill>
              </a:rPr>
              <a:t>✓  Code-Node (JS/Python) für jede Logik</a:t>
            </a:r>
          </a:p>
          <a:p>
            <a:r>
              <a:rPr sz="1300">
                <a:solidFill>
                  <a:srgbClr val="A8D8BE"/>
                </a:solidFill>
              </a:rPr>
              <a:t>✓  Wait-Node: echter HitL mit Webhook</a:t>
            </a:r>
          </a:p>
          <a:p>
            <a:r>
              <a:rPr sz="1300">
                <a:solidFill>
                  <a:srgbClr val="A8D8BE"/>
                </a:solidFill>
              </a:rPr>
              <a:t>✓  Google Docs für formatierte Offerten</a:t>
            </a:r>
          </a:p>
          <a:p>
            <a:r>
              <a:rPr sz="1300">
                <a:solidFill>
                  <a:srgbClr val="A8D8BE"/>
                </a:solidFill>
              </a:rPr>
              <a:t>✓  Self-hosted oder Cloud – günstig</a:t>
            </a:r>
          </a:p>
          <a:p>
            <a:r>
              <a:rPr sz="1300">
                <a:solidFill>
                  <a:srgbClr val="A8D8BE"/>
                </a:solidFill>
              </a:rPr>
              <a:t>✓  Vollständiges Error-Handling möglich</a:t>
            </a:r>
          </a:p>
          <a:p>
            <a:r>
              <a:rPr sz="1300">
                <a:solidFill>
                  <a:srgbClr val="A8D8BE"/>
                </a:solidFill>
              </a:rPr>
              <a:t>✓  Sauberes Debugging &amp; Execution-Log</a:t>
            </a:r>
          </a:p>
          <a:p>
            <a:r>
              <a:rPr sz="1300">
                <a:solidFill>
                  <a:srgbClr val="A8D8BE"/>
                </a:solidFill>
              </a:rPr>
              <a:t>✓  Kein Task-Limit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Multi-Channel Eingangsarchitektur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</a:rPr>
              <a:t>6 Kanäle – ein normalisierter Datenstrom – eine KI-Analyse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691640" cy="22860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2402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9748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E-Mail &amp; Thread
abrufen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5D04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2888" y="1508760"/>
            <a:ext cx="1691640" cy="22860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60020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22402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Webformular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69748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Online-Bestellung
Webhook 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1548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5D04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5696" y="1508760"/>
            <a:ext cx="1691640" cy="2286000"/>
          </a:xfrm>
          <a:prstGeom prst="rect">
            <a:avLst/>
          </a:prstGeom>
          <a:solidFill>
            <a:srgbClr val="4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60020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2402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Telefon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69748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Twilio → Transkript
(Phase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4356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5D04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8504" y="1508760"/>
            <a:ext cx="1691640" cy="2286000"/>
          </a:xfrm>
          <a:prstGeom prst="rect">
            <a:avLst/>
          </a:prstGeom>
          <a:solidFill>
            <a:srgbClr val="0D3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60020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2402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WhatsApp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69748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Business API
+ Kontext-Store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7164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5D04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11312" y="1508760"/>
            <a:ext cx="1691640" cy="22860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160020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2402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Kontaktformular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69748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n8n-Form
strukturiert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9972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5D04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1508760"/>
            <a:ext cx="1691640" cy="2286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160020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✈️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2402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Telegram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69748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Bot-Trigger
+ Kontext-Store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12780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5D04"/>
                </a:solidFill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4343400"/>
            <a:ext cx="5303520" cy="73152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4434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Quellen zusammenführen  →  Normalisierter JSON-Input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5D04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5577840"/>
            <a:ext cx="5303520" cy="777240"/>
          </a:xfrm>
          <a:prstGeom prst="rect">
            <a:avLst/>
          </a:prstGeom>
          <a:solidFill>
            <a:srgbClr val="1A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5669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0E0B8"/>
                </a:solidFill>
              </a:rPr>
              <a:t>Vollständigkeitsprüfung (Claude AI)  →  Auftrag vollständig?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n8n Workflow – Vollständige Architektur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149840" cy="365760"/>
          </a:xfrm>
          <a:prstGeom prst="rect">
            <a:avLst/>
          </a:prstGeom>
          <a:solidFill>
            <a:srgbClr val="1A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B8"/>
                </a:solidFill>
              </a:rPr>
              <a:t>VOLLSTÄNDIG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1280160" cy="1371600"/>
          </a:xfrm>
          <a:prstGeom prst="rect">
            <a:avLst/>
          </a:prstGeom>
          <a:solidFill>
            <a:srgbClr val="0D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188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Eingangs-
bestätigung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554480"/>
            <a:ext cx="1280160" cy="1371600"/>
          </a:xfrm>
          <a:prstGeom prst="rect">
            <a:avLst/>
          </a:prstGeom>
          <a:solidFill>
            <a:srgbClr val="0D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39" y="1645920"/>
            <a:ext cx="1188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Kalkulation
(Claude 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554480"/>
            <a:ext cx="1280160" cy="1371600"/>
          </a:xfrm>
          <a:prstGeom prst="rect">
            <a:avLst/>
          </a:prstGeom>
          <a:solidFill>
            <a:srgbClr val="0D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1645920"/>
            <a:ext cx="1188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Google Docs
Offerte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59" y="1554480"/>
            <a:ext cx="1280160" cy="1371600"/>
          </a:xfrm>
          <a:prstGeom prst="rect">
            <a:avLst/>
          </a:prstGeom>
          <a:solidFill>
            <a:srgbClr val="0D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1645920"/>
            <a:ext cx="1188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Zur Freigabe
senden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79" y="1554480"/>
            <a:ext cx="1280160" cy="1371600"/>
          </a:xfrm>
          <a:prstGeom prst="rect">
            <a:avLst/>
          </a:prstGeom>
          <a:solidFill>
            <a:srgbClr val="0D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399" y="1645920"/>
            <a:ext cx="1188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Wait-Node
(HitL)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554480"/>
            <a:ext cx="1280160" cy="1371600"/>
          </a:xfrm>
          <a:prstGeom prst="rect">
            <a:avLst/>
          </a:prstGeom>
          <a:solidFill>
            <a:srgbClr val="0D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645920"/>
            <a:ext cx="1188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Entscheidung
prüfen (IF)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19" y="1554480"/>
            <a:ext cx="1280160" cy="1371600"/>
          </a:xfrm>
          <a:prstGeom prst="rect">
            <a:avLst/>
          </a:prstGeom>
          <a:solidFill>
            <a:srgbClr val="0D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1645920"/>
            <a:ext cx="1188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Genehmigt
→ Versand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108960"/>
            <a:ext cx="10149840" cy="365760"/>
          </a:xfrm>
          <a:prstGeom prst="rect">
            <a:avLst/>
          </a:prstGeom>
          <a:solidFill>
            <a:srgbClr val="6B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261"/>
                </a:solidFill>
              </a:rPr>
              <a:t>UNVOLLSTÄNDIG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566160"/>
            <a:ext cx="1554480" cy="1371600"/>
          </a:xfrm>
          <a:prstGeom prst="rect">
            <a:avLst/>
          </a:prstGeom>
          <a:solidFill>
            <a:srgbClr val="4A2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657600"/>
            <a:ext cx="1463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Nachfrage-
Email generieren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79" y="40690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3566160"/>
            <a:ext cx="1554480" cy="1371600"/>
          </a:xfrm>
          <a:prstGeom prst="rect">
            <a:avLst/>
          </a:prstGeom>
          <a:solidFill>
            <a:srgbClr val="4A2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79" y="3657600"/>
            <a:ext cx="1463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Auftragskontext
speichern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0690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566160"/>
            <a:ext cx="1554480" cy="1371600"/>
          </a:xfrm>
          <a:prstGeom prst="rect">
            <a:avLst/>
          </a:prstGeom>
          <a:solidFill>
            <a:srgbClr val="4A2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657600"/>
            <a:ext cx="1463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Nachfrage
senden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599" y="40690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79" y="3566160"/>
            <a:ext cx="1554480" cy="1371600"/>
          </a:xfrm>
          <a:prstGeom prst="rect">
            <a:avLst/>
          </a:prstGeom>
          <a:solidFill>
            <a:srgbClr val="4A2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199" y="3657600"/>
            <a:ext cx="1463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Kunde antwortet
(loop back)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120640"/>
            <a:ext cx="10149840" cy="365760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A9A"/>
                </a:solidFill>
              </a:rPr>
              <a:t>FEHLER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577840"/>
            <a:ext cx="1554480" cy="1005840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650992"/>
            <a:ext cx="1463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</a:rPr>
              <a:t>Error-Trigger
(global)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79" y="59436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5577840"/>
            <a:ext cx="1554480" cy="1005840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79" y="5650992"/>
            <a:ext cx="1463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</a:rPr>
              <a:t>Fehler
klassifizieren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59436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5577840"/>
            <a:ext cx="1554480" cy="1005840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5650992"/>
            <a:ext cx="1463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</a:rPr>
              <a:t>Benachrichtigung
an Edgar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599" y="59436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79" y="5577840"/>
            <a:ext cx="1554480" cy="1005840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199" y="5650992"/>
            <a:ext cx="1463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</a:rPr>
              <a:t>Execution-Log
speichern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Human in the Loop – n8n Wait-Node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</a:rPr>
              <a:t>Workflow pausiert – Edgar entscheidet – Webhook setzt 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920240" cy="27432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Offerte
fertig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Google Docs
generiert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06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1508760"/>
            <a:ext cx="1920240" cy="274320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E-Mail
an Edgar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7432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Offerte-Link +
Approve/Reject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606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1508760"/>
            <a:ext cx="1920240" cy="2743200"/>
          </a:xfrm>
          <a:prstGeom prst="rect">
            <a:avLst/>
          </a:prstGeom>
          <a:solidFill>
            <a:srgbClr val="5C2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Wait-Node
pausiert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7432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Wartet auf
Webhook-Klick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606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87184" y="1508760"/>
            <a:ext cx="1920240" cy="2743200"/>
          </a:xfrm>
          <a:prstGeom prst="rect">
            <a:avLst/>
          </a:prstGeom>
          <a:solidFill>
            <a:srgbClr val="1A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Edgar
klickt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27432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?approved=true
oder false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606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5D04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08592" y="1508760"/>
            <a:ext cx="1920240" cy="2743200"/>
          </a:xfrm>
          <a:prstGeom prst="rect">
            <a:avLst/>
          </a:prstGeom>
          <a:solidFill>
            <a:srgbClr val="1A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2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IF-Node
entscheidet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7432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true → Versand
false → Absage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434840"/>
            <a:ext cx="10149840" cy="1097280"/>
          </a:xfrm>
          <a:prstGeom prst="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5D04"/>
                </a:solidFill>
              </a:rPr>
              <a:t>Approve-Link: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526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B8"/>
                </a:solidFill>
              </a:rPr>
              <a:t>{{ $execution.resumeUrl }}?approved=true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5A"/>
                </a:solidFill>
              </a:rPr>
              <a:t>Reject-Link: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983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BBAA"/>
                </a:solidFill>
              </a:rPr>
              <a:t>{{ $execution.resumeUrl }}?approved=false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669280"/>
            <a:ext cx="10149840" cy="91440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⏰  Timeout-Logik: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760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</a:rPr>
              <a:t>72h kein Klick → Reminder-Mail an Edgar  →  48h  →  Auftrag automatisch archiviert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614476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Execution-ID in URL = Sicherheitstoken – kein unauthorized Trigger möglich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Fehlerbehandlung &amp; Robustheit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</a:rPr>
              <a:t>3-Ebenen-Konzept für produktionssicheren Betrieb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3291840" cy="46634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Ebene 1 – Node-Level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Continue on Fail = ON bei allen kritischen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AI-Steps: JSON-Validierung nach jedem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4903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Gmail/Google Docs: Retry bis 3× bei Fehler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627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IF-Node: {{ $json.auftrag_nr }} vorhanden?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3291840" cy="4663440"/>
          </a:xfrm>
          <a:prstGeom prst="rect">
            <a:avLst/>
          </a:prstGeom>
          <a:solidFill>
            <a:srgbClr val="3A1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Ebene 2 – Wait-Node Timeout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Maximale Wartezeit: 72 Stunden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Nach Ablauf: Reminder-Mail an Edgar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4903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Nach 48h ohne Reaktion: Auto-Archivierung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7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Kunde erhält Status-Update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508760"/>
            <a:ext cx="3291840" cy="4663440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Ebene 3 – Globaler Error-Workflow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1945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Separater Error-Workflow (n8n Settings)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9718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Fängt ALLE unbehandelten Fehler aller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74903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Mail an Edgar: Workflow + Node + Fehlermeldung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52627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→  Link zur Execution für direktes Debugging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6400800"/>
            <a:ext cx="10149840" cy="320040"/>
          </a:xfrm>
          <a:prstGeom prst="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446520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Kritische Punkte: Anthropic Timeout · Gmail Auth · Google Docs API-Limit · Ungültiger JSON-Output der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Aktueller Stand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</a:rPr>
              <a:t>Juni 2026 – Phase 2 (n8n) in Entwicklung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4846320" cy="5029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2B788"/>
                </a:solidFill>
              </a:rPr>
              <a:t>Implementiert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BE"/>
                </a:solidFill>
              </a:rPr>
              <a:t>✅  6 Eingangskanäle (Mail, Web, WA, TG, Tel, Form)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334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BE"/>
                </a:solidFill>
              </a:rPr>
              <a:t>✅  Vollständigkeitsprüfung mit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6382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BE"/>
                </a:solidFill>
              </a:rPr>
              <a:t>✅  Preiskalkulation (deterministisch)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94175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BE"/>
                </a:solidFill>
              </a:rPr>
              <a:t>✅  Offerte via Google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2452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BE"/>
                </a:solidFill>
              </a:rPr>
              <a:t>✅  HitL mit Wait-Node + Webhook-Links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7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BE"/>
                </a:solidFill>
              </a:rPr>
              <a:t>✅  Auftragskontext-Speicher (Loop-Handling)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8523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BE"/>
                </a:solidFill>
              </a:rPr>
              <a:t>✅  Abschlussmail &amp; Interne Benachrichtigung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815583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BE"/>
                </a:solidFill>
              </a:rPr>
              <a:t>✅  Ablehungs-Pfad konzeptioniert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4846320" cy="50292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</a:rPr>
              <a:t>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C00"/>
                </a:solidFill>
              </a:rPr>
              <a:t>⚡ Kurzfristig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→  Fehlerbehandlung (Error-Workflow)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3463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→  Druckdaten-Anhänge (Drive)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82111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→  End-to-End-Test Gmail + Webhook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6674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📅 Mittelfristig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50791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→  Rechnung / CH-Quittung generieren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9826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→  Auftragsdatenbank (Sheets/Supabase)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7457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→  Twilio/WhatsApp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2303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B8"/>
                </a:solidFill>
              </a:rPr>
              <a:t>🚀 Langfristig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61441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→  Telefontranskription (Deepgram)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96188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→  Kundenstatus-Portal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630935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→  Produktivbetrieb Schellenberg 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6492240"/>
            <a:ext cx="10149840" cy="1828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4922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Schellenberg Druck AG · Schützenhausstrasse 5 · 8330 Pfäffikon · schellenbergdruck.ch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