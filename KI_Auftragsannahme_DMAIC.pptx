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7315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5029200"/>
            <a:ext cx="1371600" cy="13716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07492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5029200"/>
            <a:ext cx="1371600" cy="13716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507492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5029200"/>
            <a:ext cx="1371600" cy="137160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507492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5029200"/>
            <a:ext cx="1371600" cy="13716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507492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5029200"/>
            <a:ext cx="1371600" cy="1371600"/>
          </a:xfrm>
          <a:prstGeom prst="rect">
            <a:avLst/>
          </a:prstGeom>
          <a:solidFill>
            <a:srgbClr val="009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507492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0972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1A202C"/>
                </a:solidFill>
              </a:rPr>
              <a:t>KI-gestützte Auftragsannahme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2402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</a:rPr>
              <a:t>Prozessoptimierung nach DMAIC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</a:rPr>
              <a:t>Schellenberg Druck AG · Schützenhausstrasse 5 · 8330 Pfäffikon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20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</a:rPr>
              <a:t>n8n · Claude AI · Gmail · Google Docs · Multi-Channel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</a:rPr>
              <a:t>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</a:rPr>
              <a:t>DMAIC Projektübersicht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</a:rPr>
              <a:t>KI-Auftragsannahme Schellenberg Druck AG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103120" cy="4983480"/>
          </a:xfrm>
          <a:prstGeom prst="rect">
            <a:avLst/>
          </a:prstGeom>
          <a:solidFill>
            <a:srgbClr val="EBF4FF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103120" cy="6858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36192"/>
            <a:ext cx="1325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182879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5568"/>
                </a:solidFill>
              </a:rPr>
              <a:t>Problem: Manuelle Auftragsannahme</a:t>
            </a:r>
          </a:p>
          <a:p>
            <a:r>
              <a:rPr sz="1200">
                <a:solidFill>
                  <a:srgbClr val="4A5568"/>
                </a:solidFill>
              </a:rPr>
              <a:t>Ziel: Vollautomatisierung</a:t>
            </a:r>
          </a:p>
          <a:p>
            <a:r>
              <a:rPr sz="1200">
                <a:solidFill>
                  <a:srgbClr val="4A5568"/>
                </a:solidFill>
              </a:rPr>
              <a:t>Scope: Alle Eingangskanäle</a:t>
            </a:r>
          </a:p>
          <a:p>
            <a:r>
              <a:rPr sz="1200">
                <a:solidFill>
                  <a:srgbClr val="4A5568"/>
                </a:solidFill>
              </a:rPr>
              <a:t>KPIs definiert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33756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182C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417320"/>
            <a:ext cx="2103120" cy="4983480"/>
          </a:xfrm>
          <a:prstGeom prst="rect">
            <a:avLst/>
          </a:prstGeom>
          <a:solidFill>
            <a:srgbClr val="F3EEFD"/>
          </a:solidFill>
          <a:ln w="1524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0048" y="1417320"/>
            <a:ext cx="2103120" cy="6858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8" y="1463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536192"/>
            <a:ext cx="1325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240280"/>
            <a:ext cx="182879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5568"/>
                </a:solidFill>
              </a:rPr>
              <a:t>Ist-Zustand: 30–60 min/Auftrag</a:t>
            </a:r>
          </a:p>
          <a:p>
            <a:r>
              <a:rPr sz="1200">
                <a:solidFill>
                  <a:srgbClr val="4A5568"/>
                </a:solidFill>
              </a:rPr>
              <a:t>Fehlerquellen gemessen</a:t>
            </a:r>
          </a:p>
          <a:p>
            <a:r>
              <a:rPr sz="1200">
                <a:solidFill>
                  <a:srgbClr val="4A5568"/>
                </a:solidFill>
              </a:rPr>
              <a:t>Kanalvolumen analysiert</a:t>
            </a:r>
          </a:p>
          <a:p>
            <a:r>
              <a:rPr sz="1200">
                <a:solidFill>
                  <a:srgbClr val="4A5568"/>
                </a:solidFill>
              </a:rPr>
              <a:t>Baseline festgelegt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33756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05AD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82896" y="1417320"/>
            <a:ext cx="2103120" cy="4983480"/>
          </a:xfrm>
          <a:prstGeom prst="rect">
            <a:avLst/>
          </a:prstGeom>
          <a:solidFill>
            <a:srgbClr val="FFF0E6"/>
          </a:solidFill>
          <a:ln w="1524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82896" y="1417320"/>
            <a:ext cx="2103120" cy="68580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1463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8696" y="1536192"/>
            <a:ext cx="1325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0056" y="2240280"/>
            <a:ext cx="182879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5568"/>
                </a:solidFill>
              </a:rPr>
              <a:t>Ursachen: fehlende Standards</a:t>
            </a:r>
          </a:p>
          <a:p>
            <a:r>
              <a:rPr sz="1200">
                <a:solidFill>
                  <a:srgbClr val="4A5568"/>
                </a:solidFill>
              </a:rPr>
              <a:t>Manuelle Kalkulation fehleranfällig</a:t>
            </a:r>
          </a:p>
          <a:p>
            <a:r>
              <a:rPr sz="1200">
                <a:solidFill>
                  <a:srgbClr val="4A5568"/>
                </a:solidFill>
              </a:rPr>
              <a:t>Thread-Kontext geht verloren</a:t>
            </a:r>
          </a:p>
          <a:p>
            <a:r>
              <a:rPr sz="1200">
                <a:solidFill>
                  <a:srgbClr val="4A5568"/>
                </a:solidFill>
              </a:rPr>
              <a:t>Mehrprodukt-Aufträge komplex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33756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D6B2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95744" y="1417320"/>
            <a:ext cx="2103120" cy="498348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5744" y="1417320"/>
            <a:ext cx="2103120" cy="685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87183" y="1463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1544" y="1536192"/>
            <a:ext cx="1325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2904" y="2240280"/>
            <a:ext cx="182879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5568"/>
                </a:solidFill>
              </a:rPr>
              <a:t>n8n + Claude AI Workflow</a:t>
            </a:r>
          </a:p>
          <a:p>
            <a:r>
              <a:rPr sz="1200">
                <a:solidFill>
                  <a:srgbClr val="4A5568"/>
                </a:solidFill>
              </a:rPr>
              <a:t>6 Eingangskanäle normalisiert</a:t>
            </a:r>
          </a:p>
          <a:p>
            <a:r>
              <a:rPr sz="1200">
                <a:solidFill>
                  <a:srgbClr val="4A5568"/>
                </a:solidFill>
              </a:rPr>
              <a:t>Deterministisches Pricing</a:t>
            </a:r>
          </a:p>
          <a:p>
            <a:r>
              <a:rPr sz="1200">
                <a:solidFill>
                  <a:srgbClr val="4A5568"/>
                </a:solidFill>
              </a:rPr>
              <a:t>HitL mit Wait-Node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3" y="333756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8A169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08592" y="1417320"/>
            <a:ext cx="2103120" cy="4983480"/>
          </a:xfrm>
          <a:prstGeom prst="rect">
            <a:avLst/>
          </a:prstGeom>
          <a:solidFill>
            <a:srgbClr val="E0F7FA"/>
          </a:solidFill>
          <a:ln w="15240">
            <a:solidFill>
              <a:srgbClr val="009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08592" y="1417320"/>
            <a:ext cx="2103120" cy="685800"/>
          </a:xfrm>
          <a:prstGeom prst="rect">
            <a:avLst/>
          </a:prstGeom>
          <a:solidFill>
            <a:srgbClr val="009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0032" y="1463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1536192"/>
            <a:ext cx="1325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5752" y="2240280"/>
            <a:ext cx="182879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5568"/>
                </a:solidFill>
              </a:rPr>
              <a:t>3-Ebenen Fehlerbehandlung</a:t>
            </a:r>
          </a:p>
          <a:p>
            <a:r>
              <a:rPr sz="1200">
                <a:solidFill>
                  <a:srgbClr val="4A5568"/>
                </a:solidFill>
              </a:rPr>
              <a:t>Edgar prüft &amp; gibt frei</a:t>
            </a:r>
          </a:p>
          <a:p>
            <a:r>
              <a:rPr sz="1200">
                <a:solidFill>
                  <a:srgbClr val="4A5568"/>
                </a:solidFill>
              </a:rPr>
              <a:t>Audit-Trail via Google Docs</a:t>
            </a:r>
          </a:p>
          <a:p>
            <a:r>
              <a:rPr sz="1200">
                <a:solidFill>
                  <a:srgbClr val="4A5568"/>
                </a:solidFill>
              </a:rPr>
              <a:t>Monitoring &amp;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DEFINE – Problemdefinition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Was wollen wir lösen und warum?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91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Schellenberg Druck AG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394960" cy="2560320"/>
          </a:xfrm>
          <a:prstGeom prst="rect">
            <a:avLst/>
          </a:prstGeom>
          <a:solidFill>
            <a:srgbClr val="EBF4FF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394960" cy="38404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710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Ausgangsproblem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51206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Druckaufträge per E-Mail, Telefon, Web manuell erfasst</a:t>
            </a:r>
          </a:p>
          <a:p>
            <a:r>
              <a:rPr sz="1200">
                <a:solidFill>
                  <a:srgbClr val="1A202C"/>
                </a:solidFill>
              </a:rPr>
              <a:t>30–60 Minuten Bearbeitungszeit pro Auftrag</a:t>
            </a:r>
          </a:p>
          <a:p>
            <a:r>
              <a:rPr sz="1200">
                <a:solidFill>
                  <a:srgbClr val="1A202C"/>
                </a:solidFill>
              </a:rPr>
              <a:t>Preise von Hand kalkuliert – hohe Fehlerquote</a:t>
            </a:r>
          </a:p>
          <a:p>
            <a:r>
              <a:rPr sz="1200">
                <a:solidFill>
                  <a:srgbClr val="1A202C"/>
                </a:solidFill>
              </a:rPr>
              <a:t>Angebote ohne einheitliche Vorlage erstellt</a:t>
            </a:r>
          </a:p>
          <a:p>
            <a:r>
              <a:rPr sz="1200">
                <a:solidFill>
                  <a:srgbClr val="1A202C"/>
                </a:solidFill>
              </a:rPr>
              <a:t>Keine Skalierbarkeit bei steigendem Auftragsvolumen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394960" cy="2560320"/>
          </a:xfrm>
          <a:prstGeom prst="rect">
            <a:avLst/>
          </a:prstGeom>
          <a:solidFill>
            <a:srgbClr val="EBF4FF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5394960" cy="38404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710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Projektziel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91640"/>
            <a:ext cx="51206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Vollautomatische Auftragsannahme über alle Kanäle</a:t>
            </a:r>
          </a:p>
          <a:p>
            <a:r>
              <a:rPr sz="1200">
                <a:solidFill>
                  <a:srgbClr val="1A202C"/>
                </a:solidFill>
              </a:rPr>
              <a:t>KI extrahiert Daten, prüft Vollständigkeit</a:t>
            </a:r>
          </a:p>
          <a:p>
            <a:r>
              <a:rPr sz="1200">
                <a:solidFill>
                  <a:srgbClr val="1A202C"/>
                </a:solidFill>
              </a:rPr>
              <a:t>Deterministische Preiskalkulation (keine Spielräume)</a:t>
            </a:r>
          </a:p>
          <a:p>
            <a:r>
              <a:rPr sz="1200">
                <a:solidFill>
                  <a:srgbClr val="1A202C"/>
                </a:solidFill>
              </a:rPr>
              <a:t>AI-generiertes, rechtssicheres Angebot (CH)</a:t>
            </a:r>
          </a:p>
          <a:p>
            <a:r>
              <a:rPr sz="1200">
                <a:solidFill>
                  <a:srgbClr val="1A202C"/>
                </a:solidFill>
              </a:rPr>
              <a:t>Mensch prüft nur noch → gibt frei oder lehnt 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39"/>
            <a:ext cx="5394960" cy="2606040"/>
          </a:xfrm>
          <a:prstGeom prst="rect">
            <a:avLst/>
          </a:prstGeom>
          <a:solidFill>
            <a:srgbClr val="EBF4FF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77639"/>
            <a:ext cx="5394960" cy="38404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14215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Scope &amp; Stakeholder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34840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Scope: Alle eingehenden Druckaufträge</a:t>
            </a:r>
          </a:p>
          <a:p>
            <a:r>
              <a:rPr sz="1200">
                <a:solidFill>
                  <a:srgbClr val="1A202C"/>
                </a:solidFill>
              </a:rPr>
              <a:t>Kanäle: Mail, Web, WhatsApp, Telegram,</a:t>
            </a:r>
          </a:p>
          <a:p>
            <a:r>
              <a:rPr sz="1200">
                <a:solidFill>
                  <a:srgbClr val="1A202C"/>
                </a:solidFill>
              </a:rPr>
              <a:t>         Telefon, Kontaktformular</a:t>
            </a:r>
          </a:p>
          <a:p>
            <a:r>
              <a:rPr sz="1200">
                <a:solidFill>
                  <a:srgbClr val="1A202C"/>
                </a:solidFill>
              </a:rPr>
              <a:t>Stakeholder: Edgar Glinz (Entscheider)</a:t>
            </a:r>
          </a:p>
          <a:p>
            <a:r>
              <a:rPr sz="1200">
                <a:solidFill>
                  <a:srgbClr val="1A202C"/>
                </a:solidFill>
              </a:rPr>
              <a:t>             Kunden der Schellenberg AG</a:t>
            </a:r>
          </a:p>
          <a:p>
            <a:r>
              <a:rPr sz="1200">
                <a:solidFill>
                  <a:srgbClr val="1A202C"/>
                </a:solidFill>
              </a:rPr>
              <a:t>Ausgeschlossen: Produktion, Rechnungsstellung (Phase 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977639"/>
            <a:ext cx="5394960" cy="2606040"/>
          </a:xfrm>
          <a:prstGeom prst="rect">
            <a:avLst/>
          </a:prstGeom>
          <a:solidFill>
            <a:srgbClr val="EBF4FF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977639"/>
            <a:ext cx="5394960" cy="38404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014215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Erfolgskennzahlen (KPIs)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434840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Bearbeitungszeit: &lt; 5 Min. (von 30–60 Min.)</a:t>
            </a:r>
          </a:p>
          <a:p>
            <a:r>
              <a:rPr sz="1200">
                <a:solidFill>
                  <a:srgbClr val="1A202C"/>
                </a:solidFill>
              </a:rPr>
              <a:t>Kalkulationsfehlerrate: 0% (deterministische Logik)</a:t>
            </a:r>
          </a:p>
          <a:p>
            <a:r>
              <a:rPr sz="1200">
                <a:solidFill>
                  <a:srgbClr val="1A202C"/>
                </a:solidFill>
              </a:rPr>
              <a:t>Vollständige Aufträge ohne Rückfrage: &gt; 70%</a:t>
            </a:r>
          </a:p>
          <a:p>
            <a:r>
              <a:rPr sz="1200">
                <a:solidFill>
                  <a:srgbClr val="1A202C"/>
                </a:solidFill>
              </a:rPr>
              <a:t>Angebotserstellungszeit: &lt; 2 Min.</a:t>
            </a:r>
          </a:p>
          <a:p>
            <a:r>
              <a:rPr sz="1200">
                <a:solidFill>
                  <a:srgbClr val="1A202C"/>
                </a:solidFill>
              </a:rPr>
              <a:t>HitL-Freigabequote: Ziel &gt; 90% genehmigt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MEASURE – Ist-Zustand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Wo stehen wir heute? Was kostet der aktuelle Prozess?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91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Schellenberg Druck AG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566160" cy="5349240"/>
          </a:xfrm>
          <a:prstGeom prst="rect">
            <a:avLst/>
          </a:prstGeom>
          <a:solidFill>
            <a:srgbClr val="F3EEFD"/>
          </a:solidFill>
          <a:ln w="1524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566160" cy="384048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710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Ist-Prozess (manuell)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32918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1.  E-Mail / Anruf eingehend</a:t>
            </a:r>
          </a:p>
          <a:p>
            <a:r>
              <a:rPr sz="1200">
                <a:solidFill>
                  <a:srgbClr val="1A202C"/>
                </a:solidFill>
              </a:rPr>
              <a:t>2.  Sachbearbeiter liest &amp; interpretiert</a:t>
            </a:r>
          </a:p>
          <a:p>
            <a:r>
              <a:rPr sz="1200">
                <a:solidFill>
                  <a:srgbClr val="1A202C"/>
                </a:solidFill>
              </a:rPr>
              <a:t>3.  Fehlende Angaben per Mail anfragen</a:t>
            </a:r>
          </a:p>
          <a:p>
            <a:r>
              <a:rPr sz="1200">
                <a:solidFill>
                  <a:srgbClr val="1A202C"/>
                </a:solidFill>
              </a:rPr>
              <a:t>4.  Warten auf Kundenantwort</a:t>
            </a:r>
          </a:p>
          <a:p>
            <a:r>
              <a:rPr sz="1200">
                <a:solidFill>
                  <a:srgbClr val="1A202C"/>
                </a:solidFill>
              </a:rPr>
              <a:t>5.  Preise in Excel kalkulieren</a:t>
            </a:r>
          </a:p>
          <a:p>
            <a:r>
              <a:rPr sz="1200">
                <a:solidFill>
                  <a:srgbClr val="1A202C"/>
                </a:solidFill>
              </a:rPr>
              <a:t>6.  Word-Vorlage ausfüllen</a:t>
            </a:r>
          </a:p>
          <a:p>
            <a:r>
              <a:rPr sz="1200">
                <a:solidFill>
                  <a:srgbClr val="1A202C"/>
                </a:solidFill>
              </a:rPr>
              <a:t>7.  PDF erstellen &amp; versenden</a:t>
            </a:r>
          </a:p>
          <a:p>
            <a:r>
              <a:rPr sz="1200">
                <a:solidFill>
                  <a:srgbClr val="1A202C"/>
                </a:solidFill>
              </a:rPr>
              <a:t>8.  Auf Freigabe/Rückfragen warten</a:t>
            </a:r>
          </a:p>
          <a:p>
            <a:r>
              <a:rPr sz="1200">
                <a:solidFill>
                  <a:srgbClr val="1A202C"/>
                </a:solidFill>
              </a:rPr>
              <a:t/>
            </a:r>
          </a:p>
          <a:p>
            <a:r>
              <a:rPr sz="1200">
                <a:solidFill>
                  <a:srgbClr val="1A202C"/>
                </a:solidFill>
              </a:rPr>
              <a:t>⏱ Ø Zeitaufwand: 30–60 Min./Auftrag</a:t>
            </a:r>
          </a:p>
          <a:p>
            <a:r>
              <a:rPr sz="1200">
                <a:solidFill>
                  <a:srgbClr val="1A202C"/>
                </a:solidFill>
              </a:rPr>
              <a:t>⚠  Fehlerquellen: Schritt 2, 3, 5,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234440"/>
            <a:ext cx="3566160" cy="2468880"/>
          </a:xfrm>
          <a:prstGeom prst="rect">
            <a:avLst/>
          </a:prstGeom>
          <a:solidFill>
            <a:srgbClr val="F3EEFD"/>
          </a:solidFill>
          <a:ln w="1524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234440"/>
            <a:ext cx="3566160" cy="384048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2710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Kanäle &amp; Volumen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69164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E-Mail         ~60% der Anfragen</a:t>
            </a:r>
          </a:p>
          <a:p>
            <a:r>
              <a:rPr sz="1200">
                <a:solidFill>
                  <a:srgbClr val="1A202C"/>
                </a:solidFill>
              </a:rPr>
              <a:t>Telefon        ~25% der Anfragen</a:t>
            </a:r>
          </a:p>
          <a:p>
            <a:r>
              <a:rPr sz="1200">
                <a:solidFill>
                  <a:srgbClr val="1A202C"/>
                </a:solidFill>
              </a:rPr>
              <a:t>Web-Formular   ~10% der Anfragen</a:t>
            </a:r>
          </a:p>
          <a:p>
            <a:r>
              <a:rPr sz="1200">
                <a:solidFill>
                  <a:srgbClr val="1A202C"/>
                </a:solidFill>
              </a:rPr>
              <a:t>Andere         ~5% der Anfragen</a:t>
            </a:r>
          </a:p>
          <a:p>
            <a:r>
              <a:rPr sz="1200">
                <a:solidFill>
                  <a:srgbClr val="1A202C"/>
                </a:solidFill>
              </a:rPr>
              <a:t/>
            </a:r>
          </a:p>
          <a:p>
            <a:r>
              <a:rPr sz="1200">
                <a:solidFill>
                  <a:srgbClr val="1A202C"/>
                </a:solidFill>
              </a:rPr>
              <a:t>Ziel: Alle Kanäle automatisiert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886200"/>
            <a:ext cx="3566160" cy="2697480"/>
          </a:xfrm>
          <a:prstGeom prst="rect">
            <a:avLst/>
          </a:prstGeom>
          <a:solidFill>
            <a:srgbClr val="F3EEFD"/>
          </a:solidFill>
          <a:ln w="1524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3886200"/>
            <a:ext cx="3566160" cy="384048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92277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Fehlerquellen-Analyse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34340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Falsche Grammatur → Preisfehler</a:t>
            </a:r>
          </a:p>
          <a:p>
            <a:r>
              <a:rPr sz="1200">
                <a:solidFill>
                  <a:srgbClr val="1A202C"/>
                </a:solidFill>
              </a:rPr>
              <a:t>Thread-Kontext vergessen</a:t>
            </a:r>
          </a:p>
          <a:p>
            <a:r>
              <a:rPr sz="1200">
                <a:solidFill>
                  <a:srgbClr val="1A202C"/>
                </a:solidFill>
              </a:rPr>
              <a:t>Format-Tippfehler (A4 vs. DIN lang)</a:t>
            </a:r>
          </a:p>
          <a:p>
            <a:r>
              <a:rPr sz="1200">
                <a:solidFill>
                  <a:srgbClr val="1A202C"/>
                </a:solidFill>
              </a:rPr>
              <a:t>Mehrprodukt-Aufträge übersehen</a:t>
            </a:r>
          </a:p>
          <a:p>
            <a:r>
              <a:rPr sz="1200">
                <a:solidFill>
                  <a:srgbClr val="1A202C"/>
                </a:solidFill>
              </a:rPr>
              <a:t>Keine Fristenprüfung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234440"/>
            <a:ext cx="3931920" cy="5349240"/>
          </a:xfrm>
          <a:prstGeom prst="rect">
            <a:avLst/>
          </a:prstGeom>
          <a:solidFill>
            <a:srgbClr val="F3EEFD"/>
          </a:solidFill>
          <a:ln w="1524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234440"/>
            <a:ext cx="3931920" cy="384048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2710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Baseline Kennzahlen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69164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Bearbeitungszeit heute:</a:t>
            </a:r>
          </a:p>
          <a:p>
            <a:r>
              <a:rPr sz="1200">
                <a:solidFill>
                  <a:srgbClr val="1A202C"/>
                </a:solidFill>
              </a:rPr>
              <a:t>  → Einfacher Auftrag:    ~30 Min.</a:t>
            </a:r>
          </a:p>
          <a:p>
            <a:r>
              <a:rPr sz="1200">
                <a:solidFill>
                  <a:srgbClr val="1A202C"/>
                </a:solidFill>
              </a:rPr>
              <a:t>  → Komplexer Auftrag:    ~60 Min.</a:t>
            </a:r>
          </a:p>
          <a:p>
            <a:r>
              <a:rPr sz="1200">
                <a:solidFill>
                  <a:srgbClr val="1A202C"/>
                </a:solidFill>
              </a:rPr>
              <a:t>  → Mit Rückfragen:      ~2–3 Tage</a:t>
            </a:r>
          </a:p>
          <a:p>
            <a:r>
              <a:rPr sz="1200">
                <a:solidFill>
                  <a:srgbClr val="1A202C"/>
                </a:solidFill>
              </a:rPr>
              <a:t/>
            </a:r>
          </a:p>
          <a:p>
            <a:r>
              <a:rPr sz="1200">
                <a:solidFill>
                  <a:srgbClr val="1A202C"/>
                </a:solidFill>
              </a:rPr>
              <a:t>Fehlerrate Kalkulation:   ~15–20%</a:t>
            </a:r>
          </a:p>
          <a:p>
            <a:r>
              <a:rPr sz="1200">
                <a:solidFill>
                  <a:srgbClr val="1A202C"/>
                </a:solidFill>
              </a:rPr>
              <a:t>(geschätzt, keine Messung)</a:t>
            </a:r>
          </a:p>
          <a:p>
            <a:r>
              <a:rPr sz="1200">
                <a:solidFill>
                  <a:srgbClr val="1A202C"/>
                </a:solidFill>
              </a:rPr>
              <a:t/>
            </a:r>
          </a:p>
          <a:p>
            <a:r>
              <a:rPr sz="1200">
                <a:solidFill>
                  <a:srgbClr val="1A202C"/>
                </a:solidFill>
              </a:rPr>
              <a:t>Angebote pro Woche: variabel</a:t>
            </a:r>
          </a:p>
          <a:p>
            <a:r>
              <a:rPr sz="1200">
                <a:solidFill>
                  <a:srgbClr val="1A202C"/>
                </a:solidFill>
              </a:rPr>
              <a:t/>
            </a:r>
          </a:p>
          <a:p>
            <a:r>
              <a:rPr sz="1200">
                <a:solidFill>
                  <a:srgbClr val="1A202C"/>
                </a:solidFill>
              </a:rPr>
              <a:t>Ziel nach Verbesserung:</a:t>
            </a:r>
          </a:p>
          <a:p>
            <a:r>
              <a:rPr sz="1200">
                <a:solidFill>
                  <a:srgbClr val="1A202C"/>
                </a:solidFill>
              </a:rPr>
              <a:t>  → Bearbeitungszeit: &lt; 5 Min.</a:t>
            </a:r>
          </a:p>
          <a:p>
            <a:r>
              <a:rPr sz="1200">
                <a:solidFill>
                  <a:srgbClr val="1A202C"/>
                </a:solidFill>
              </a:rPr>
              <a:t>  → Fehlerrate Kalk.: 0%</a:t>
            </a:r>
          </a:p>
          <a:p>
            <a:r>
              <a:rPr sz="1200">
                <a:solidFill>
                  <a:srgbClr val="1A202C"/>
                </a:solidFill>
              </a:rPr>
              <a:t>  → Rückfragen: automatisch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ANALYZE – Ursachenanalyse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Warum ist der Prozess fehleranfällig und langsam?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91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Schellenberg Druck AG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00" cy="3291840"/>
          </a:xfrm>
          <a:prstGeom prst="rect">
            <a:avLst/>
          </a:prstGeom>
          <a:solidFill>
            <a:srgbClr val="FFF0E6"/>
          </a:solidFill>
          <a:ln w="1524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657600" cy="38404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710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Keine Standardisierung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Kunden liefern Infos in beliebigem Format</a:t>
            </a:r>
          </a:p>
          <a:p>
            <a:r>
              <a:rPr sz="1200">
                <a:solidFill>
                  <a:srgbClr val="1A202C"/>
                </a:solidFill>
              </a:rPr>
              <a:t>Kein einheitliches Bestellformular</a:t>
            </a:r>
          </a:p>
          <a:p>
            <a:r>
              <a:rPr sz="1200">
                <a:solidFill>
                  <a:srgbClr val="1A202C"/>
                </a:solidFill>
              </a:rPr>
              <a:t>Jeder Sachbearbeiter arbeitet anders</a:t>
            </a:r>
          </a:p>
          <a:p>
            <a:r>
              <a:rPr sz="1200">
                <a:solidFill>
                  <a:srgbClr val="1A202C"/>
                </a:solidFill>
              </a:rPr>
              <a:t>Keine Vollständigkeits-Checkliste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34440"/>
            <a:ext cx="3657600" cy="3291840"/>
          </a:xfrm>
          <a:prstGeom prst="rect">
            <a:avLst/>
          </a:prstGeom>
          <a:solidFill>
            <a:srgbClr val="FFF0E6"/>
          </a:solidFill>
          <a:ln w="1524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657600" cy="38404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710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Manuelle Kalkulation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Preistabellen in Excel – fehleranfällig</a:t>
            </a:r>
          </a:p>
          <a:p>
            <a:r>
              <a:rPr sz="1200">
                <a:solidFill>
                  <a:srgbClr val="1A202C"/>
                </a:solidFill>
              </a:rPr>
              <a:t>Expresszuschläge oft vergessen</a:t>
            </a:r>
          </a:p>
          <a:p>
            <a:r>
              <a:rPr sz="1200">
                <a:solidFill>
                  <a:srgbClr val="1A202C"/>
                </a:solidFill>
              </a:rPr>
              <a:t>Marge nicht systematisch geprüft</a:t>
            </a:r>
          </a:p>
          <a:p>
            <a:r>
              <a:rPr sz="1200">
                <a:solidFill>
                  <a:srgbClr val="1A202C"/>
                </a:solidFill>
              </a:rPr>
              <a:t>Mehrprodukt-Summen falsch addiert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3657600" cy="3291840"/>
          </a:xfrm>
          <a:prstGeom prst="rect">
            <a:avLst/>
          </a:prstGeom>
          <a:solidFill>
            <a:srgbClr val="FFF0E6"/>
          </a:solidFill>
          <a:ln w="1524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34440"/>
            <a:ext cx="3657600" cy="38404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2710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Informationsverlust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91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E-Mail-Thread wird nicht vollständig gelesen</a:t>
            </a:r>
          </a:p>
          <a:p>
            <a:r>
              <a:rPr sz="1200">
                <a:solidFill>
                  <a:srgbClr val="1A202C"/>
                </a:solidFill>
              </a:rPr>
              <a:t>Frühere Angaben gehen bei Rückfragen verloren</a:t>
            </a:r>
          </a:p>
          <a:p>
            <a:r>
              <a:rPr sz="1200">
                <a:solidFill>
                  <a:srgbClr val="1A202C"/>
                </a:solidFill>
              </a:rPr>
              <a:t>Kein zentrales Auftragssystem</a:t>
            </a:r>
          </a:p>
          <a:p>
            <a:r>
              <a:rPr sz="1200">
                <a:solidFill>
                  <a:srgbClr val="1A202C"/>
                </a:solidFill>
              </a:rPr>
              <a:t>Anhänge werden übersehen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09160"/>
            <a:ext cx="11247120" cy="1920240"/>
          </a:xfrm>
          <a:prstGeom prst="rect">
            <a:avLst/>
          </a:prstGeom>
          <a:solidFill>
            <a:srgbClr val="FFF0E6"/>
          </a:solidFill>
          <a:ln w="1524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709160"/>
            <a:ext cx="11247120" cy="38404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5488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Ableitung: Lösungsansatz für IMPROVE-Phase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66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D6B20"/>
                </a:solidFill>
              </a:rPr>
              <a:t>Standardisierung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32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KI-Extraktion + JSON-Schema erzwingt Vollständigkeit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166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D6B20"/>
                </a:solidFill>
              </a:rPr>
              <a:t>Kalkulation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532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Fixe Preistabellen im Prompt – kein Ermessensspielraum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166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D6B20"/>
                </a:solidFill>
              </a:rPr>
              <a:t>Thread-Kontext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532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AI liest gesamten E-Mail-Verlauf, merkt sich Auftragsnummer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5166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D6B20"/>
                </a:solidFill>
              </a:rPr>
              <a:t>Multi-Kanal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39" y="5532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6 Kanäle werden normalisiert auf identisches JSON-Format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IMPROVE – Lösung: n8n KI-Workflow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Von der Idee zur automatisierten Auftragsannahme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91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Schellenberg Druck AG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691640" cy="228600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691640" cy="365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02C"/>
                </a:solidFill>
              </a:rPr>
              <a:t>Multi-Channel
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6 Kanäle
normalisiert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945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A169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5728" y="1234440"/>
            <a:ext cx="1691640" cy="228600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95728" y="1234440"/>
            <a:ext cx="1691640" cy="365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95728" y="12984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17373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02C"/>
                </a:solidFill>
              </a:rPr>
              <a:t>Vollständig-
keitsprüfung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2423160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Claude AI
+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21945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A169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1234440"/>
            <a:ext cx="1691640" cy="228600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42816" y="1234440"/>
            <a:ext cx="1691640" cy="365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2816" y="12984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5" y="17373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02C"/>
                </a:solidFill>
              </a:rPr>
              <a:t>Preis-
kalkulation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5" y="2423160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Deterministisch
Fixpreise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456" y="21945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A169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9904" y="1234440"/>
            <a:ext cx="1691640" cy="228600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9904" y="1234440"/>
            <a:ext cx="1691640" cy="365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2984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17373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02C"/>
                </a:solidFill>
              </a:rPr>
              <a:t>Offerte
generieren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1344" y="2423160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Google Docs
CH-konform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1544" y="21945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A169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36992" y="1234440"/>
            <a:ext cx="1691640" cy="228600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36992" y="1234440"/>
            <a:ext cx="1691640" cy="365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12984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17373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02C"/>
                </a:solidFill>
              </a:rPr>
              <a:t>HitL
Freigabe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1" y="2423160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Wait-Node
Edgar entsch.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8632" y="21945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A169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1234440"/>
            <a:ext cx="1691640" cy="228600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84080" y="1234440"/>
            <a:ext cx="1691640" cy="365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12984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17373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02C"/>
                </a:solidFill>
              </a:rPr>
              <a:t>Versand
Kunde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19" y="2423160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Angebot oder
Nachfrage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703320"/>
            <a:ext cx="5394960" cy="288036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703320"/>
            <a:ext cx="5394960" cy="38404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7398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Technologie-Stack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4160520"/>
            <a:ext cx="5120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Automation:     n8n (self-hosted / cloud)</a:t>
            </a:r>
          </a:p>
          <a:p>
            <a:r>
              <a:rPr sz="1200">
                <a:solidFill>
                  <a:srgbClr val="1A202C"/>
                </a:solidFill>
              </a:rPr>
              <a:t>AI-Modell:      Claude (Anthropic)</a:t>
            </a:r>
          </a:p>
          <a:p>
            <a:r>
              <a:rPr sz="1200">
                <a:solidFill>
                  <a:srgbClr val="1A202C"/>
                </a:solidFill>
              </a:rPr>
              <a:t>E-Mail:         Gmail (G-Suite)</a:t>
            </a:r>
          </a:p>
          <a:p>
            <a:r>
              <a:rPr sz="1200">
                <a:solidFill>
                  <a:srgbClr val="1A202C"/>
                </a:solidFill>
              </a:rPr>
              <a:t>Dokumente:      Google Docs</a:t>
            </a:r>
          </a:p>
          <a:p>
            <a:r>
              <a:rPr sz="1200">
                <a:solidFill>
                  <a:srgbClr val="1A202C"/>
                </a:solidFill>
              </a:rPr>
              <a:t>Kanäle:         Twilio, WhatsApp, Telegram</a:t>
            </a:r>
          </a:p>
          <a:p>
            <a:r>
              <a:rPr sz="1200">
                <a:solidFill>
                  <a:srgbClr val="1A202C"/>
                </a:solidFill>
              </a:rPr>
              <a:t>Speicher:       n8n Store / Google Sheets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703320"/>
            <a:ext cx="5394960" cy="288036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3703320"/>
            <a:ext cx="5394960" cy="38404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37398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Schlüsselentscheide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4160520"/>
            <a:ext cx="5120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JSON-Schema erzwingt strukturierten Output</a:t>
            </a:r>
          </a:p>
          <a:p>
            <a:r>
              <a:rPr sz="1200">
                <a:solidFill>
                  <a:srgbClr val="1A202C"/>
                </a:solidFill>
              </a:rPr>
              <a:t>Flat Fields (produkt_1...5) für Kanal-Kompatibilität</a:t>
            </a:r>
          </a:p>
          <a:p>
            <a:r>
              <a:rPr sz="1200">
                <a:solidFill>
                  <a:srgbClr val="1A202C"/>
                </a:solidFill>
              </a:rPr>
              <a:t>Determin. Kalkulation: kein AI-Spielraum</a:t>
            </a:r>
          </a:p>
          <a:p>
            <a:r>
              <a:rPr sz="1200">
                <a:solidFill>
                  <a:srgbClr val="1A202C"/>
                </a:solidFill>
              </a:rPr>
              <a:t>Google Docs statt Plain-Text für Formatierung</a:t>
            </a:r>
          </a:p>
          <a:p>
            <a:r>
              <a:rPr sz="1200">
                <a:solidFill>
                  <a:srgbClr val="1A202C"/>
                </a:solidFill>
              </a:rPr>
              <a:t>Wait-Node statt Zapier HitL (mehr Kontrolle)</a:t>
            </a:r>
          </a:p>
          <a:p>
            <a:r>
              <a:rPr sz="1200">
                <a:solidFill>
                  <a:srgbClr val="1A202C"/>
                </a:solidFill>
              </a:rPr>
              <a:t>Auftragsnr. DR-YYYY-MMDDHHNN als Loop-Anker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IMPROVE – Multi-Channel &amp; KI-Analyse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Alle Kanäle – eine normalisierte Datenbasis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91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Schellenberg Druck AG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00" cy="192024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801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📧 Gmail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2801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✅ Aktiv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9164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E-Mail-Thread
abrufen &amp; zusammenfassen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69164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</a:rPr>
              <a:t>Thread-ID
als Loop-Anker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3657600" cy="192024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234440"/>
            <a:ext cx="3657600" cy="365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2801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🌐 Webformular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2801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✅ Aktiv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169164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Strukturierter
Webhook-Input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69164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</a:rPr>
              <a:t>Einmalig,
kein Loop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657600" cy="192024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234440"/>
            <a:ext cx="3657600" cy="365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12801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📞 Telefon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12801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⏳ 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169164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Twilio → Deepgram
Transkription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69164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</a:rPr>
              <a:t>Aufnahme-URL
→ 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29000"/>
            <a:ext cx="3657600" cy="192024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29000"/>
            <a:ext cx="3657600" cy="365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74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💬 WhatsApp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4747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⏳ Credentials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88620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Business API
+ Kontext-Speicher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88620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</a:rPr>
              <a:t>Chat-ID
→ Auftragsnr.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429000"/>
            <a:ext cx="3657600" cy="192024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3429000"/>
            <a:ext cx="3657600" cy="365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3128" y="3474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Formular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4747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✅ Aktiv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388620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n8n-Native Form
strukturiert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88620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</a:rPr>
              <a:t>Einmalig,
kein Loop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429000"/>
            <a:ext cx="3657600" cy="192024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3429000"/>
            <a:ext cx="3657600" cy="365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9327" y="3474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✈️ Telegram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34747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⏳ Credentials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7" y="388620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Bot-Trigger
+ Kontext-Speicher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388620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</a:rPr>
              <a:t>Chat-ID
→ Auftragsnr.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806440"/>
            <a:ext cx="11247120" cy="77724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943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A169"/>
                </a:solidFill>
              </a:rPr>
              <a:t>→  Alle Kanäle → 'Quellen zusammenführen' → Normalisierter JSON → Claude Vollständigkeitsprüfung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IMPROVE – Kalkulation &amp; Offerte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Deterministischer Preis · Rechtssicheres Dokument · Google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91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Schellenberg Druck AG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394960" cy="534924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394960" cy="38404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Preiskalkulation (Claude AI – Fixregeln)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19072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202C"/>
                </a:solidFill>
              </a:rPr>
              <a:t>1.  Gesamtbogen = CEIL((Auflage × 1.08) / 50) × 50</a:t>
            </a:r>
          </a:p>
          <a:p>
            <a:r>
              <a:rPr sz="1100">
                <a:solidFill>
                  <a:srgbClr val="1A202C"/>
                </a:solidFill>
              </a:rPr>
              <a:t>2.  Papierkosten aus Fixpreistabelle (CHF/1000 Bogen)</a:t>
            </a:r>
          </a:p>
          <a:p>
            <a:r>
              <a:rPr sz="1100">
                <a:solidFill>
                  <a:srgbClr val="1A202C"/>
                </a:solidFill>
              </a:rPr>
              <a:t>    90g Offset: 18.– | 170g glänzend: 41.–</a:t>
            </a:r>
          </a:p>
          <a:p>
            <a:r>
              <a:rPr sz="1100">
                <a:solidFill>
                  <a:srgbClr val="1A202C"/>
                </a:solidFill>
              </a:rPr>
              <a:t>    300g Chromo: 68.– | Selbstklebefolie: 95.–</a:t>
            </a:r>
          </a:p>
          <a:p>
            <a:r>
              <a:rPr sz="1100">
                <a:solidFill>
                  <a:srgbClr val="1A202C"/>
                </a:solidFill>
              </a:rPr>
              <a:t>3.  Druckkosten: 55.– Rüst + Bogenrate × Seitenfaktor</a:t>
            </a:r>
          </a:p>
          <a:p>
            <a:r>
              <a:rPr sz="1100">
                <a:solidFill>
                  <a:srgbClr val="1A202C"/>
                </a:solidFill>
              </a:rPr>
              <a:t>4.  Veredelung: Cello 0.065 | Softtouch 0.095 /Bogen</a:t>
            </a:r>
          </a:p>
          <a:p>
            <a:r>
              <a:rPr sz="1100">
                <a:solidFill>
                  <a:srgbClr val="1A202C"/>
                </a:solidFill>
              </a:rPr>
              <a:t>5.  Layout: 95.– / 185.– / 290.– (nur ohne Druckdaten)</a:t>
            </a:r>
          </a:p>
          <a:p>
            <a:r>
              <a:rPr sz="1100">
                <a:solidFill>
                  <a:srgbClr val="1A202C"/>
                </a:solidFill>
              </a:rPr>
              <a:t>6.  Expresszuschlag: knapp +18% | nicht real. +28%</a:t>
            </a:r>
          </a:p>
          <a:p>
            <a:r>
              <a:rPr sz="1100">
                <a:solidFill>
                  <a:srgbClr val="1A202C"/>
                </a:solidFill>
              </a:rPr>
              <a:t>7.  VP netto = Selbstkosten × 1.7241</a:t>
            </a:r>
          </a:p>
          <a:p>
            <a:r>
              <a:rPr sz="1100">
                <a:solidFill>
                  <a:srgbClr val="1A202C"/>
                </a:solidFill>
              </a:rPr>
              <a:t>    → aufrunden auf nächste CHF 5.– | min. CHF 95.–</a:t>
            </a:r>
          </a:p>
          <a:p>
            <a:r>
              <a:rPr sz="1100">
                <a:solidFill>
                  <a:srgbClr val="1A202C"/>
                </a:solidFill>
              </a:rPr>
              <a:t>8.  MwSt. 8.1% | VP brutto = netto + MwSt.</a:t>
            </a:r>
          </a:p>
          <a:p>
            <a:r>
              <a:rPr sz="1100">
                <a:solidFill>
                  <a:srgbClr val="1A202C"/>
                </a:solidFill>
              </a:rPr>
              <a:t/>
            </a:r>
          </a:p>
          <a:p>
            <a:r>
              <a:rPr sz="1100">
                <a:solidFill>
                  <a:srgbClr val="1A202C"/>
                </a:solidFill>
              </a:rPr>
              <a:t>WICHTIG: Preis = Gesamtpreis ALLER Stück – nicht Stückpreis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394960" cy="534924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5394960" cy="38404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801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Angebotsstruktur (Google Docs)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719072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202C"/>
                </a:solidFill>
              </a:rPr>
              <a:t>1.  Briefkopf (Schellenberg Druck AG, linksbündig)</a:t>
            </a:r>
          </a:p>
          <a:p>
            <a:r>
              <a:rPr sz="1100">
                <a:solidFill>
                  <a:srgbClr val="1A202C"/>
                </a:solidFill>
              </a:rPr>
              <a:t>2.  Empfänger (rechtsbündig)</a:t>
            </a:r>
          </a:p>
          <a:p>
            <a:r>
              <a:rPr sz="1100">
                <a:solidFill>
                  <a:srgbClr val="1A202C"/>
                </a:solidFill>
              </a:rPr>
              <a:t>3.  Angebotsnummer + Datum + Gültig bis (30 Tage)</a:t>
            </a:r>
          </a:p>
          <a:p>
            <a:r>
              <a:rPr sz="1100">
                <a:solidFill>
                  <a:srgbClr val="1A202C"/>
                </a:solidFill>
              </a:rPr>
              <a:t>4.  Betreff (fett)</a:t>
            </a:r>
          </a:p>
          <a:p>
            <a:r>
              <a:rPr sz="1100">
                <a:solidFill>
                  <a:srgbClr val="1A202C"/>
                </a:solidFill>
              </a:rPr>
              <a:t>5.  Leistungsbeschreibung pro Position:</a:t>
            </a:r>
          </a:p>
          <a:p>
            <a:r>
              <a:rPr sz="1100">
                <a:solidFill>
                  <a:srgbClr val="1A202C"/>
                </a:solidFill>
              </a:rPr>
              <a:t>    → Produkt, Format, Farbigkeit, Material</a:t>
            </a:r>
          </a:p>
          <a:p>
            <a:r>
              <a:rPr sz="1100">
                <a:solidFill>
                  <a:srgbClr val="1A202C"/>
                </a:solidFill>
              </a:rPr>
              <a:t>    → Auflage, Veredelung, Druckdaten</a:t>
            </a:r>
          </a:p>
          <a:p>
            <a:r>
              <a:rPr sz="1100">
                <a:solidFill>
                  <a:srgbClr val="1A202C"/>
                </a:solidFill>
              </a:rPr>
              <a:t>    → Kosten: CHF X.- (fett, gerundet)</a:t>
            </a:r>
          </a:p>
          <a:p>
            <a:r>
              <a:rPr sz="1100">
                <a:solidFill>
                  <a:srgbClr val="1A202C"/>
                </a:solidFill>
              </a:rPr>
              <a:t>6.  Kostenaufstellung Pos. 1–X</a:t>
            </a:r>
          </a:p>
          <a:p>
            <a:r>
              <a:rPr sz="1100">
                <a:solidFill>
                  <a:srgbClr val="1A202C"/>
                </a:solidFill>
              </a:rPr>
              <a:t>    Nettobetrag / MwSt. 8.1% / Gesamtbetrag (fett)</a:t>
            </a:r>
          </a:p>
          <a:p>
            <a:r>
              <a:rPr sz="1100">
                <a:solidFill>
                  <a:srgbClr val="1A202C"/>
                </a:solidFill>
              </a:rPr>
              <a:t>7.  Lieferbedingungen</a:t>
            </a:r>
          </a:p>
          <a:p>
            <a:r>
              <a:rPr sz="1100">
                <a:solidFill>
                  <a:srgbClr val="1A202C"/>
                </a:solidFill>
              </a:rPr>
              <a:t>8.  Zahlungsbedingungen (30 Tage / 50% Anzahlung)</a:t>
            </a:r>
          </a:p>
          <a:p>
            <a:r>
              <a:rPr sz="1100">
                <a:solidFill>
                  <a:srgbClr val="1A202C"/>
                </a:solidFill>
              </a:rPr>
              <a:t>9.  Druckdaten-Status</a:t>
            </a:r>
          </a:p>
          <a:p>
            <a:r>
              <a:rPr sz="1100">
                <a:solidFill>
                  <a:srgbClr val="1A202C"/>
                </a:solidFill>
              </a:rPr>
              <a:t>10. Rechtliche Hinweise (Fliesstext, CH-Gerichtsstand)</a:t>
            </a:r>
          </a:p>
          <a:p>
            <a:r>
              <a:rPr sz="1100">
                <a:solidFill>
                  <a:srgbClr val="1A202C"/>
                </a:solidFill>
              </a:rPr>
              <a:t>11. Unterschrift Edgar Glinz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9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CONTROL – Kontrolle &amp; Robustheit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Wie halten wir die Verbesserung stabil?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91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Schellenberg Druck AG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577840" cy="2514600"/>
          </a:xfrm>
          <a:prstGeom prst="rect">
            <a:avLst/>
          </a:prstGeom>
          <a:solidFill>
            <a:srgbClr val="E0F7FA"/>
          </a:solidFill>
          <a:ln w="15240">
            <a:solidFill>
              <a:srgbClr val="009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577840" cy="384048"/>
          </a:xfrm>
          <a:prstGeom prst="rect">
            <a:avLst/>
          </a:prstGeom>
          <a:solidFill>
            <a:srgbClr val="009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710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Human in the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Edgar prüft jedes Angebot vor Versand</a:t>
            </a:r>
          </a:p>
          <a:p>
            <a:r>
              <a:rPr sz="1200">
                <a:solidFill>
                  <a:srgbClr val="1A202C"/>
                </a:solidFill>
              </a:rPr>
              <a:t>Wait-Node pausiert Workflow bis Klick</a:t>
            </a:r>
          </a:p>
          <a:p>
            <a:r>
              <a:rPr sz="1200">
                <a:solidFill>
                  <a:srgbClr val="1A202C"/>
                </a:solidFill>
              </a:rPr>
              <a:t>Approve-Link: ?approved=true</a:t>
            </a:r>
          </a:p>
          <a:p>
            <a:r>
              <a:rPr sz="1200">
                <a:solidFill>
                  <a:srgbClr val="1A202C"/>
                </a:solidFill>
              </a:rPr>
              <a:t>Reject-Link: ?approved=false</a:t>
            </a:r>
          </a:p>
          <a:p>
            <a:r>
              <a:rPr sz="1200">
                <a:solidFill>
                  <a:srgbClr val="1A202C"/>
                </a:solidFill>
              </a:rPr>
              <a:t>Timeout: 72h → Reminder → 48h → Archiv</a:t>
            </a:r>
          </a:p>
          <a:p>
            <a:r>
              <a:rPr sz="1200">
                <a:solidFill>
                  <a:srgbClr val="1A202C"/>
                </a:solidFill>
              </a:rPr>
              <a:t>Execution-ID = Sicherheitstoken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577840" cy="2514600"/>
          </a:xfrm>
          <a:prstGeom prst="rect">
            <a:avLst/>
          </a:prstGeom>
          <a:solidFill>
            <a:srgbClr val="E0F7FA"/>
          </a:solidFill>
          <a:ln w="15240">
            <a:solidFill>
              <a:srgbClr val="009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577840" cy="384048"/>
          </a:xfrm>
          <a:prstGeom prst="rect">
            <a:avLst/>
          </a:prstGeom>
          <a:solidFill>
            <a:srgbClr val="009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710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3-Ebenen Fehlerbehandlung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Ebene 1: Continue on Fail pro Node</a:t>
            </a:r>
          </a:p>
          <a:p>
            <a:r>
              <a:rPr sz="1200">
                <a:solidFill>
                  <a:srgbClr val="1A202C"/>
                </a:solidFill>
              </a:rPr>
              <a:t>         JSON-Validierung nach AI-Steps</a:t>
            </a:r>
          </a:p>
          <a:p>
            <a:r>
              <a:rPr sz="1200">
                <a:solidFill>
                  <a:srgbClr val="1A202C"/>
                </a:solidFill>
              </a:rPr>
              <a:t>         Retry bis 3× bei API-Fehlern</a:t>
            </a:r>
          </a:p>
          <a:p>
            <a:r>
              <a:rPr sz="1200">
                <a:solidFill>
                  <a:srgbClr val="1A202C"/>
                </a:solidFill>
              </a:rPr>
              <a:t>Ebene 2: Wait-Node Timeout-Logik</a:t>
            </a:r>
          </a:p>
          <a:p>
            <a:r>
              <a:rPr sz="1200">
                <a:solidFill>
                  <a:srgbClr val="1A202C"/>
                </a:solidFill>
              </a:rPr>
              <a:t>Ebene 3: Globaler Error-Workflow</a:t>
            </a:r>
          </a:p>
          <a:p>
            <a:r>
              <a:rPr sz="1200">
                <a:solidFill>
                  <a:srgbClr val="1A202C"/>
                </a:solidFill>
              </a:rPr>
              <a:t>         Mail an Edgar bei Absturz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5577840" cy="2514600"/>
          </a:xfrm>
          <a:prstGeom prst="rect">
            <a:avLst/>
          </a:prstGeom>
          <a:solidFill>
            <a:srgbClr val="E0F7FA"/>
          </a:solidFill>
          <a:ln w="15240">
            <a:solidFill>
              <a:srgbClr val="009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577840" cy="384048"/>
          </a:xfrm>
          <a:prstGeom prst="rect">
            <a:avLst/>
          </a:prstGeom>
          <a:solidFill>
            <a:srgbClr val="009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684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Audit-Trail &amp; Archivierung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8912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Google Docs: jede Offerte archiviert</a:t>
            </a:r>
          </a:p>
          <a:p>
            <a:r>
              <a:rPr sz="1200">
                <a:solidFill>
                  <a:srgbClr val="1A202C"/>
                </a:solidFill>
              </a:rPr>
              <a:t>Auftrags-Nr. DR-YYYY-MMDDHHNN</a:t>
            </a:r>
          </a:p>
          <a:p>
            <a:r>
              <a:rPr sz="1200">
                <a:solidFill>
                  <a:srgbClr val="1A202C"/>
                </a:solidFill>
              </a:rPr>
              <a:t>Google Sheets: Auftragsdatenbank (geplant)</a:t>
            </a:r>
          </a:p>
          <a:p>
            <a:r>
              <a:rPr sz="1200">
                <a:solidFill>
                  <a:srgbClr val="1A202C"/>
                </a:solidFill>
              </a:rPr>
              <a:t>Schweizer Recht: 10 Jahre Aufbewahrung</a:t>
            </a:r>
          </a:p>
          <a:p>
            <a:r>
              <a:rPr sz="1200">
                <a:solidFill>
                  <a:srgbClr val="1A202C"/>
                </a:solidFill>
              </a:rPr>
              <a:t>Interne Benachrichtigung bei Abschluss</a:t>
            </a:r>
          </a:p>
          <a:p>
            <a:r>
              <a:rPr sz="1200">
                <a:solidFill>
                  <a:srgbClr val="1A202C"/>
                </a:solidFill>
              </a:rPr>
              <a:t>Execution-Log in n8n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577840" cy="2514600"/>
          </a:xfrm>
          <a:prstGeom prst="rect">
            <a:avLst/>
          </a:prstGeom>
          <a:solidFill>
            <a:srgbClr val="E0F7FA"/>
          </a:solidFill>
          <a:ln w="15240">
            <a:solidFill>
              <a:srgbClr val="009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5577840" cy="384048"/>
          </a:xfrm>
          <a:prstGeom prst="rect">
            <a:avLst/>
          </a:prstGeom>
          <a:solidFill>
            <a:srgbClr val="009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9684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Qualitätssicherung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38912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</a:rPr>
              <a:t>AI gibt nur valides JSON aus (Schema)</a:t>
            </a:r>
          </a:p>
          <a:p>
            <a:r>
              <a:rPr sz="1200">
                <a:solidFill>
                  <a:srgbClr val="1A202C"/>
                </a:solidFill>
              </a:rPr>
              <a:t>Pflichtfelder erzwungen (niemals leer)</a:t>
            </a:r>
          </a:p>
          <a:p>
            <a:r>
              <a:rPr sz="1200">
                <a:solidFill>
                  <a:srgbClr val="1A202C"/>
                </a:solidFill>
              </a:rPr>
              <a:t>Terminprüfung: realistisch/knapp/unmögl.</a:t>
            </a:r>
          </a:p>
          <a:p>
            <a:r>
              <a:rPr sz="1200">
                <a:solidFill>
                  <a:srgbClr val="1A202C"/>
                </a:solidFill>
              </a:rPr>
              <a:t>Mehrprodukt-Aufträge: Pos. 1–5 geprüft</a:t>
            </a:r>
          </a:p>
          <a:p>
            <a:r>
              <a:rPr sz="1200">
                <a:solidFill>
                  <a:srgbClr val="1A202C"/>
                </a:solidFill>
              </a:rPr>
              <a:t>Kein Ermessensspielraum in Kalkulation</a:t>
            </a:r>
          </a:p>
          <a:p>
            <a:r>
              <a:rPr sz="1200">
                <a:solidFill>
                  <a:srgbClr val="1A202C"/>
                </a:solidFill>
              </a:rPr>
              <a:t>Regelmässige Prompt-Reviews geplant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</a:rPr>
              <a:t>Herausforderungen &amp; Lösungen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</a:rPr>
              <a:t>Lessons Learned aus Phase 1 (Zapier) und Phase 2 (n8n)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577840" cy="1600200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</a:rPr>
              <a:t>Stückpreis statt Gesamtpreis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013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030"/>
                </a:solidFill>
              </a:rPr>
              <a:t>✗  AI dividierte VP durch Auflage → Stückpreis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2199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7248"/>
                </a:solidFill>
              </a:rPr>
              <a:t>✓  WICHTIG-Hinweis im Prompt: 'Gesamtpreis ALLER Stück'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577840" cy="1600200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990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</a:rPr>
              <a:t>Thread blind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013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030"/>
                </a:solidFill>
              </a:rPr>
              <a:t>✗  AI las nur neueste E-Mail, ignorierte Kontext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2199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7248"/>
                </a:solidFill>
              </a:rPr>
              <a:t>✓  Explizites Thread-Reading + Kurzantwort-Logik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5577840" cy="1600200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82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</a:rPr>
              <a:t>Zapier Chip-Fehler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84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030"/>
                </a:solidFill>
              </a:rPr>
              <a:t>✗  {{...}} als Plaintext getippt → kein Wert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050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7248"/>
                </a:solidFill>
              </a:rPr>
              <a:t>✓  Chip-Picker verwenden, nie manuell tippen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108960"/>
            <a:ext cx="5577840" cy="1600200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182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</a:rPr>
              <a:t>Flaches JSON (Zapier)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84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030"/>
                </a:solidFill>
              </a:rPr>
              <a:t>✗  JSON-Arrays nicht mappbar in Zapier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0050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7248"/>
                </a:solidFill>
              </a:rPr>
              <a:t>✓  n8n: Arrays nativ – kein produkt_1...5 Hack nötig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92040"/>
            <a:ext cx="5577840" cy="1600200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9651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</a:rPr>
              <a:t>HitL immer 'abgelehnt'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6752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030"/>
                </a:solidFill>
              </a:rPr>
              <a:t>✗  Falsche Condition: Status statt Decision-Feld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7881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7248"/>
                </a:solidFill>
              </a:rPr>
              <a:t>✓  Field: 'Decision' / Values: approved / rejected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892040"/>
            <a:ext cx="5577840" cy="1600200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9651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</a:rPr>
              <a:t>Formatierung fehlt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36752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030"/>
                </a:solidFill>
              </a:rPr>
              <a:t>✗  Plain-Text: kein Fett, keine Ausrichtung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7881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7248"/>
                </a:solidFill>
              </a:rPr>
              <a:t>✓  n8n + Google Docs: echte Formatierung möglich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</a:rPr>
              <a:t>Ergebnisse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</a:rPr>
              <a:t>Was erreicht wurde – was als nächstes kommt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5394960" cy="534924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5394960" cy="38404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Erreicht (Phase 1 &amp;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✅  6 Eingangskanäle normalisiert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✅  Vollständigkeitsprüfung mit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✅  Deterministisches Pricing (0% Spielraum)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29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✅  Offerte via Google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77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✅  HitL mit Wait-Node + Webhook-Links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26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✅  Auftragskontext-Speicher (Loop)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74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✅  Abschlussmail &amp; Interne Benachrichtigung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623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✅  DMAIC-Struktur dokumentiert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261872"/>
            <a:ext cx="5394960" cy="5349240"/>
          </a:xfrm>
          <a:prstGeom prst="rect">
            <a:avLst/>
          </a:prstGeom>
          <a:solidFill>
            <a:srgbClr val="E0F7FA"/>
          </a:solidFill>
          <a:ln w="15240">
            <a:solidFill>
              <a:srgbClr val="009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261872"/>
            <a:ext cx="5394960" cy="384048"/>
          </a:xfrm>
          <a:prstGeom prst="rect">
            <a:avLst/>
          </a:prstGeom>
          <a:solidFill>
            <a:srgbClr val="009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3075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105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</a:rPr>
              <a:t>⚡ Kurzfristig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945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  →  Fehlerbehandlung (Error-Workflow)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578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  →  Druckdaten-Anhänge (Google Drive)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9626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  →  End-to-End-Test (Mail + Webhook)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34670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8800"/>
                </a:solidFill>
              </a:rPr>
              <a:t>📅 Mittelfristig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7307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  →  Rechnung / CH-Quittung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1148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  →  Auftragsdatenbank (Sheets/Supabase)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4988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  →  Twilio / WhatsApp / Telegram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88289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A169"/>
                </a:solidFill>
              </a:rPr>
              <a:t>🚀 Langfristig / Produktiv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2669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  →  Telefontranskription (Deepgram)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6509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  →  Kundenstatus-Portal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6035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  →  Produktivbetrieb Schellenberg 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656832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568"/>
                </a:solidFill>
              </a:rPr>
              <a:t>Schellenberg Druck AG · Schützenhausstrasse 5 · 8330 Pfäffikon · schellenbergdruck.ch  |  Juni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</a:rPr>
              <a:t>Workflow Evolution – Phase 1: Zapier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Erster Workflow | Gmail → AI Analyse → Kalkulation → Offerte → HitL → Versand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61872"/>
            <a:ext cx="5669280" cy="3931920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5669280" cy="347472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Linke Hälfte des Screenshots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A5568"/>
                </a:solidFill>
              </a:rPr>
              <a:t>📸  Screenshot hier einfügen
(linke Hälfte zuschneiden)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Enthält:
Step 1: Gmail Trigger
Step 2: AI Auftragsanalyse
Step 3: Path (vollständig/unvollständig)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61872"/>
            <a:ext cx="5669280" cy="3931920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669280" cy="347472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Rechte Hälfte des Screenshots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A5568"/>
                </a:solidFill>
              </a:rPr>
              <a:t>📸  Screenshot hier einfügen
(rechte Hälfte zuschneiden)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918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Enthält:
Step 6: Kalkulation AI
Step 7: Offerte AI
Step 9: Human in the Loop
Step 16: Rückfrage-E-Mail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182CE"/>
                </a:solidFill>
              </a:rPr>
              <a:t>◀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182CE"/>
                </a:solidFill>
              </a:rPr>
              <a:t>Rechts 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A5568"/>
                </a:solidFill>
              </a:rPr>
              <a:t>Tipp: Screenshot in Bildbearbeitungsprogramm vertikal halbieren → je eine Hälfte in die Platzhalter ziehen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2011680" cy="685800"/>
          </a:xfrm>
          <a:prstGeom prst="rect">
            <a:avLst/>
          </a:prstGeom>
          <a:solidFill>
            <a:srgbClr val="EBF4FF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82CE"/>
                </a:solidFill>
              </a:rPr>
              <a:t>Step 1–2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807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Trigger +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24328" y="5760720"/>
            <a:ext cx="2011680" cy="685800"/>
          </a:xfrm>
          <a:prstGeom prst="rect">
            <a:avLst/>
          </a:prstGeom>
          <a:solidFill>
            <a:srgbClr val="EBF4FF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5806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82CE"/>
                </a:solidFill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768" y="60807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Path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1456" y="5760720"/>
            <a:ext cx="2011680" cy="685800"/>
          </a:xfrm>
          <a:prstGeom prst="rect">
            <a:avLst/>
          </a:prstGeom>
          <a:solidFill>
            <a:srgbClr val="EBF4FF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5806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82CE"/>
                </a:solidFill>
              </a:rPr>
              <a:t>Step 6–7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2896" y="60807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Kalk. + Offerte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58584" y="5760720"/>
            <a:ext cx="2011680" cy="685800"/>
          </a:xfrm>
          <a:prstGeom prst="rect">
            <a:avLst/>
          </a:prstGeom>
          <a:solidFill>
            <a:srgbClr val="EBF4FF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0024" y="5806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82CE"/>
                </a:solidFill>
              </a:rPr>
              <a:t>Step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0024" y="60807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HitL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25712" y="5760720"/>
            <a:ext cx="2011680" cy="685800"/>
          </a:xfrm>
          <a:prstGeom prst="rect">
            <a:avLst/>
          </a:prstGeom>
          <a:solidFill>
            <a:srgbClr val="EBF4FF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152" y="5806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82CE"/>
                </a:solidFill>
              </a:rPr>
              <a:t>Step 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60807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Rückfrage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</a:rPr>
              <a:t>Workflow Evolution – Phase 2a: n8n Einstieg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Erste n8n Version | Gmail + Webhook → Vollständigkeit → Kalkulation → Google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5440680" cy="4206240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568"/>
                </a:solidFill>
              </a:rPr>
              <a:t>📸  Screenshot einfügen: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</a:rPr>
              <a:t>n8n Workflow – Version 1
(2 Kanäle: Gmail + Webhook)
Screenshot aus Chatverlauf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61872"/>
            <a:ext cx="5440680" cy="4206240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3774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568"/>
                </a:solidFill>
              </a:rPr>
              <a:t>📸  Screenshot einfügen: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78892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</a:rPr>
              <a:t>n8n Workflow – Version 2
(6 Kanäle: + Twilio, WhatsApp,
Telegram, Kontaktformular)
Screenshot aus Chatverlauf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623560"/>
            <a:ext cx="5440680" cy="100584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6875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A169"/>
                </a:solidFill>
              </a:rPr>
              <a:t>Version 1 – 2 Kanäle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167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5568"/>
                </a:solidFill>
              </a:rPr>
              <a:t>Gmail · Webhook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5623560"/>
            <a:ext cx="5440680" cy="100584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6875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A169"/>
                </a:solidFill>
              </a:rPr>
              <a:t>Version 2 – 6 Kanäle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0167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5568"/>
                </a:solidFill>
              </a:rPr>
              <a:t>+ Twilio · WhatsApp · Telegram · Formular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</a:rPr>
              <a:t>Workflow Evolution – Phase 2b: Aktueller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Vollständiger Workflow mit HitL Wait-Node, Genehmigungspfad und Fehlerbehandlung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7772400" cy="4892040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743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</a:rPr>
              <a:t>📸  Screenshot einfügen: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</a:rPr>
              <a:t>n8n Workflow – Aktuellster Stand
(vollständiger Flow mit allen Nodes)
Screenshot aus Chatverlauf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261872"/>
            <a:ext cx="3200400" cy="4892040"/>
          </a:xfrm>
          <a:prstGeom prst="rect">
            <a:avLst/>
          </a:prstGeom>
          <a:solidFill>
            <a:srgbClr val="E0F7FA"/>
          </a:solidFill>
          <a:ln w="15240">
            <a:solidFill>
              <a:srgbClr val="009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1261872"/>
            <a:ext cx="3200400" cy="384048"/>
          </a:xfrm>
          <a:prstGeom prst="rect">
            <a:avLst/>
          </a:prstGeom>
          <a:solidFill>
            <a:srgbClr val="009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3075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Node-Legende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📧  Gmail / E-Mail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2585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🤖  Claude AI (Anthropic)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7340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⚙️  Code / 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2095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🔀  IF / Switch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6850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⏳  Wait-Node (HitL)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📄  Google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63600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🔔  Webhook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51114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💾  Daten speichern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558698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✉️  Nachricht senden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91072"/>
            <a:ext cx="11247120" cy="411480"/>
          </a:xfrm>
          <a:prstGeom prst="rect">
            <a:avLst/>
          </a:prstGeom>
          <a:solidFill>
            <a:srgbClr val="EAF7E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3550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A169"/>
                </a:solidFill>
              </a:rPr>
              <a:t>Status: HitL implementiert ✅ · 6 Kanäle ✅ · Kalkulation ✅ · Fehlerbehandlung ⏳ · Credentials Twilio/WA/TG 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