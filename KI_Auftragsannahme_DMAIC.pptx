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E85D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0"/>
            <a:ext cx="11731752" cy="73152"/>
          </a:xfrm>
          <a:prstGeom prst="rect">
            <a:avLst/>
          </a:prstGeom>
          <a:solidFill>
            <a:srgbClr val="ED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97280" y="5029200"/>
            <a:ext cx="1371600" cy="1371600"/>
          </a:xfrm>
          <a:prstGeom prst="rect">
            <a:avLst/>
          </a:prstGeom>
          <a:solidFill>
            <a:srgbClr val="3182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5074920"/>
            <a:ext cx="1371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 i="0">
                <a:solidFill>
                  <a:srgbClr val="FFFFFF"/>
                </a:solidFill>
              </a:rPr>
              <a:t>D</a:t>
            </a:r>
          </a:p>
        </p:txBody>
      </p:sp>
      <p:sp>
        <p:nvSpPr>
          <p:cNvPr id="6" name="Rectangle 5"/>
          <p:cNvSpPr/>
          <p:nvPr/>
        </p:nvSpPr>
        <p:spPr>
          <a:xfrm>
            <a:off x="3108960" y="5029200"/>
            <a:ext cx="1371600" cy="1371600"/>
          </a:xfrm>
          <a:prstGeom prst="rect">
            <a:avLst/>
          </a:prstGeom>
          <a:solidFill>
            <a:srgbClr val="805A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5074920"/>
            <a:ext cx="1371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 i="0">
                <a:solidFill>
                  <a:srgbClr val="FFFFFF"/>
                </a:solidFill>
              </a:rPr>
              <a:t>M</a:t>
            </a:r>
          </a:p>
        </p:txBody>
      </p:sp>
      <p:sp>
        <p:nvSpPr>
          <p:cNvPr id="8" name="Rectangle 7"/>
          <p:cNvSpPr/>
          <p:nvPr/>
        </p:nvSpPr>
        <p:spPr>
          <a:xfrm>
            <a:off x="5120640" y="5029200"/>
            <a:ext cx="1371600" cy="1371600"/>
          </a:xfrm>
          <a:prstGeom prst="rect">
            <a:avLst/>
          </a:prstGeom>
          <a:solidFill>
            <a:srgbClr val="DD6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0" y="5074920"/>
            <a:ext cx="1371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 i="0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32320" y="5029200"/>
            <a:ext cx="1371600" cy="1371600"/>
          </a:xfrm>
          <a:prstGeom prst="rect">
            <a:avLst/>
          </a:prstGeom>
          <a:solidFill>
            <a:srgbClr val="38A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0" y="5074920"/>
            <a:ext cx="1371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0" y="5029200"/>
            <a:ext cx="1371600" cy="1371600"/>
          </a:xfrm>
          <a:prstGeom prst="rect">
            <a:avLst/>
          </a:prstGeom>
          <a:solidFill>
            <a:srgbClr val="0096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0" y="5074920"/>
            <a:ext cx="1371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 i="0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109728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1A202C"/>
                </a:solidFill>
              </a:rPr>
              <a:t>KI-gestützte Auftragsannahme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224028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E85D04"/>
                </a:solidFill>
              </a:rPr>
              <a:t>Prozessoptimierung nach DMAIC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29260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4A5568"/>
                </a:solidFill>
              </a:rPr>
              <a:t>Schellenberg Druck AG · Schützenhausstrasse 5 · 8330 Pfäffikon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352044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A5568"/>
                </a:solidFill>
              </a:rPr>
              <a:t>n8n · Claude AI · Gmail · Google Docs · Multi-Channel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63093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4A5568"/>
                </a:solidFill>
              </a:rPr>
              <a:t>Juni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E85D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202C"/>
                </a:solidFill>
              </a:rPr>
              <a:t>DMAIC Projektübersicht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0467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A5568"/>
                </a:solidFill>
              </a:rPr>
              <a:t>KI-Auftragsannahme Schellenberg Druck AG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2103120" cy="4983480"/>
          </a:xfrm>
          <a:prstGeom prst="rect">
            <a:avLst/>
          </a:prstGeom>
          <a:solidFill>
            <a:srgbClr val="EBF4FF"/>
          </a:solidFill>
          <a:ln w="15240">
            <a:solidFill>
              <a:srgbClr val="3182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417320"/>
            <a:ext cx="2103120" cy="685800"/>
          </a:xfrm>
          <a:prstGeom prst="rect">
            <a:avLst/>
          </a:prstGeom>
          <a:solidFill>
            <a:srgbClr val="3182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463040"/>
            <a:ext cx="640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536192"/>
            <a:ext cx="132587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DEFINE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240280"/>
            <a:ext cx="1828799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4A5568"/>
                </a:solidFill>
              </a:rPr>
              <a:t>Problem: Manuelle Auftragsannahme</a:t>
            </a:r>
          </a:p>
          <a:p>
            <a:r>
              <a:rPr sz="1200">
                <a:solidFill>
                  <a:srgbClr val="4A5568"/>
                </a:solidFill>
              </a:rPr>
              <a:t>Ziel: Vollautomatisierung</a:t>
            </a:r>
          </a:p>
          <a:p>
            <a:r>
              <a:rPr sz="1200">
                <a:solidFill>
                  <a:srgbClr val="4A5568"/>
                </a:solidFill>
              </a:rPr>
              <a:t>Scope: Alle Eingangskanäle</a:t>
            </a:r>
          </a:p>
          <a:p>
            <a:r>
              <a:rPr sz="1200">
                <a:solidFill>
                  <a:srgbClr val="4A5568"/>
                </a:solidFill>
              </a:rPr>
              <a:t>KPIs definiert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20" y="3337560"/>
            <a:ext cx="137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3182CE"/>
                </a:solidFill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670048" y="1417320"/>
            <a:ext cx="2103120" cy="4983480"/>
          </a:xfrm>
          <a:prstGeom prst="rect">
            <a:avLst/>
          </a:prstGeom>
          <a:solidFill>
            <a:srgbClr val="F3EEFD"/>
          </a:solidFill>
          <a:ln w="15240">
            <a:solidFill>
              <a:srgbClr val="805A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670048" y="1417320"/>
            <a:ext cx="2103120" cy="685800"/>
          </a:xfrm>
          <a:prstGeom prst="rect">
            <a:avLst/>
          </a:prstGeom>
          <a:solidFill>
            <a:srgbClr val="805A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61488" y="1463040"/>
            <a:ext cx="640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55848" y="1536192"/>
            <a:ext cx="132587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MEASURE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07208" y="2240280"/>
            <a:ext cx="1828799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4A5568"/>
                </a:solidFill>
              </a:rPr>
              <a:t>Ist-Zustand: 30–60 min/Auftrag</a:t>
            </a:r>
          </a:p>
          <a:p>
            <a:r>
              <a:rPr sz="1200">
                <a:solidFill>
                  <a:srgbClr val="4A5568"/>
                </a:solidFill>
              </a:rPr>
              <a:t>Fehlerquellen gemessen</a:t>
            </a:r>
          </a:p>
          <a:p>
            <a:r>
              <a:rPr sz="1200">
                <a:solidFill>
                  <a:srgbClr val="4A5568"/>
                </a:solidFill>
              </a:rPr>
              <a:t>Kanalvolumen analysiert</a:t>
            </a:r>
          </a:p>
          <a:p>
            <a:r>
              <a:rPr sz="1200">
                <a:solidFill>
                  <a:srgbClr val="4A5568"/>
                </a:solidFill>
              </a:rPr>
              <a:t>Baseline festgelegt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73168" y="3337560"/>
            <a:ext cx="137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805AD5"/>
                </a:solidFill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882896" y="1417320"/>
            <a:ext cx="2103120" cy="4983480"/>
          </a:xfrm>
          <a:prstGeom prst="rect">
            <a:avLst/>
          </a:prstGeom>
          <a:solidFill>
            <a:srgbClr val="FFF0E6"/>
          </a:solidFill>
          <a:ln w="15240">
            <a:solidFill>
              <a:srgbClr val="DD6B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882896" y="1417320"/>
            <a:ext cx="2103120" cy="685800"/>
          </a:xfrm>
          <a:prstGeom prst="rect">
            <a:avLst/>
          </a:prstGeom>
          <a:solidFill>
            <a:srgbClr val="DD6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74336" y="1463040"/>
            <a:ext cx="640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68696" y="1536192"/>
            <a:ext cx="132587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ANALYZE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0056" y="2240280"/>
            <a:ext cx="1828799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4A5568"/>
                </a:solidFill>
              </a:rPr>
              <a:t>Ursachen: fehlende Standards</a:t>
            </a:r>
          </a:p>
          <a:p>
            <a:r>
              <a:rPr sz="1200">
                <a:solidFill>
                  <a:srgbClr val="4A5568"/>
                </a:solidFill>
              </a:rPr>
              <a:t>Manuelle Kalkulation fehleranfällig</a:t>
            </a:r>
          </a:p>
          <a:p>
            <a:r>
              <a:rPr sz="1200">
                <a:solidFill>
                  <a:srgbClr val="4A5568"/>
                </a:solidFill>
              </a:rPr>
              <a:t>Thread-Kontext geht verloren</a:t>
            </a:r>
          </a:p>
          <a:p>
            <a:r>
              <a:rPr sz="1200">
                <a:solidFill>
                  <a:srgbClr val="4A5568"/>
                </a:solidFill>
              </a:rPr>
              <a:t>Mehrprodukt-Aufträge komplex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86016" y="3337560"/>
            <a:ext cx="137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DD6B20"/>
                </a:solidFill>
              </a:rP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095744" y="1417320"/>
            <a:ext cx="2103120" cy="4983480"/>
          </a:xfrm>
          <a:prstGeom prst="rect">
            <a:avLst/>
          </a:prstGeom>
          <a:solidFill>
            <a:srgbClr val="EAF7EE"/>
          </a:solidFill>
          <a:ln w="15240">
            <a:solidFill>
              <a:srgbClr val="38A1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095744" y="1417320"/>
            <a:ext cx="2103120" cy="685800"/>
          </a:xfrm>
          <a:prstGeom prst="rect">
            <a:avLst/>
          </a:prstGeom>
          <a:solidFill>
            <a:srgbClr val="38A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187183" y="1463040"/>
            <a:ext cx="640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81544" y="1536192"/>
            <a:ext cx="132587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IMPROVE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32904" y="2240280"/>
            <a:ext cx="1828799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4A5568"/>
                </a:solidFill>
              </a:rPr>
              <a:t>n8n + Claude AI Workflow</a:t>
            </a:r>
          </a:p>
          <a:p>
            <a:r>
              <a:rPr sz="1200">
                <a:solidFill>
                  <a:srgbClr val="4A5568"/>
                </a:solidFill>
              </a:rPr>
              <a:t>6 Eingangskanäle normalisiert</a:t>
            </a:r>
          </a:p>
          <a:p>
            <a:r>
              <a:rPr sz="1200">
                <a:solidFill>
                  <a:srgbClr val="4A5568"/>
                </a:solidFill>
              </a:rPr>
              <a:t>Deterministisches Pricing</a:t>
            </a:r>
          </a:p>
          <a:p>
            <a:r>
              <a:rPr sz="1200">
                <a:solidFill>
                  <a:srgbClr val="4A5568"/>
                </a:solidFill>
              </a:rPr>
              <a:t>HitL mit Wait-Node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98863" y="3337560"/>
            <a:ext cx="137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38A169"/>
                </a:solidFill>
              </a:rPr>
              <a:t>→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308592" y="1417320"/>
            <a:ext cx="2103120" cy="4983480"/>
          </a:xfrm>
          <a:prstGeom prst="rect">
            <a:avLst/>
          </a:prstGeom>
          <a:solidFill>
            <a:srgbClr val="E0F7FA"/>
          </a:solidFill>
          <a:ln w="15240">
            <a:solidFill>
              <a:srgbClr val="0096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308592" y="1417320"/>
            <a:ext cx="2103120" cy="685800"/>
          </a:xfrm>
          <a:prstGeom prst="rect">
            <a:avLst/>
          </a:prstGeom>
          <a:solidFill>
            <a:srgbClr val="0096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400032" y="1463040"/>
            <a:ext cx="640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994392" y="1536192"/>
            <a:ext cx="132587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CONTROL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45752" y="2240280"/>
            <a:ext cx="1828799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4A5568"/>
                </a:solidFill>
              </a:rPr>
              <a:t>3-Ebenen Fehlerbehandlung</a:t>
            </a:r>
          </a:p>
          <a:p>
            <a:r>
              <a:rPr sz="1200">
                <a:solidFill>
                  <a:srgbClr val="4A5568"/>
                </a:solidFill>
              </a:rPr>
              <a:t>Edgar prüft &amp; gibt frei</a:t>
            </a:r>
          </a:p>
          <a:p>
            <a:r>
              <a:rPr sz="1200">
                <a:solidFill>
                  <a:srgbClr val="4A5568"/>
                </a:solidFill>
              </a:rPr>
              <a:t>Audit-Trail via Google Docs</a:t>
            </a:r>
          </a:p>
          <a:p>
            <a:r>
              <a:rPr sz="1200">
                <a:solidFill>
                  <a:srgbClr val="4A5568"/>
                </a:solidFill>
              </a:rPr>
              <a:t>Monitoring &amp; Alerts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3182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73152"/>
            <a:ext cx="822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</a:rPr>
              <a:t>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91440"/>
            <a:ext cx="7315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DEFINE – Problemdefinition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621792"/>
            <a:ext cx="9144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DEEFF"/>
                </a:solidFill>
              </a:rPr>
              <a:t>Was wollen wir lösen und warum?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0" y="91440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</a:rPr>
              <a:t>Schellenberg Druck AG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34440"/>
            <a:ext cx="5394960" cy="2560320"/>
          </a:xfrm>
          <a:prstGeom prst="rect">
            <a:avLst/>
          </a:prstGeom>
          <a:solidFill>
            <a:srgbClr val="EBF4FF"/>
          </a:solidFill>
          <a:ln w="15240">
            <a:solidFill>
              <a:srgbClr val="3182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234440"/>
            <a:ext cx="5394960" cy="384048"/>
          </a:xfrm>
          <a:prstGeom prst="rect">
            <a:avLst/>
          </a:prstGeom>
          <a:solidFill>
            <a:srgbClr val="3182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271016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Ausgangsproblem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691640"/>
            <a:ext cx="5120640" cy="2011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1A202C"/>
                </a:solidFill>
              </a:rPr>
              <a:t>Druckaufträge per E-Mail, Telefon, Web manuell erfasst</a:t>
            </a:r>
          </a:p>
          <a:p>
            <a:r>
              <a:rPr sz="1200">
                <a:solidFill>
                  <a:srgbClr val="1A202C"/>
                </a:solidFill>
              </a:rPr>
              <a:t>30–60 Minuten Bearbeitungszeit pro Auftrag</a:t>
            </a:r>
          </a:p>
          <a:p>
            <a:r>
              <a:rPr sz="1200">
                <a:solidFill>
                  <a:srgbClr val="1A202C"/>
                </a:solidFill>
              </a:rPr>
              <a:t>Preise von Hand kalkuliert – hohe Fehlerquote</a:t>
            </a:r>
          </a:p>
          <a:p>
            <a:r>
              <a:rPr sz="1200">
                <a:solidFill>
                  <a:srgbClr val="1A202C"/>
                </a:solidFill>
              </a:rPr>
              <a:t>Angebote ohne einheitliche Vorlage erstellt</a:t>
            </a:r>
          </a:p>
          <a:p>
            <a:r>
              <a:rPr sz="1200">
                <a:solidFill>
                  <a:srgbClr val="1A202C"/>
                </a:solidFill>
              </a:rPr>
              <a:t>Keine Skalierbarkeit bei steigendem Auftragsvolumen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26480" y="1234440"/>
            <a:ext cx="5394960" cy="2560320"/>
          </a:xfrm>
          <a:prstGeom prst="rect">
            <a:avLst/>
          </a:prstGeom>
          <a:solidFill>
            <a:srgbClr val="EBF4FF"/>
          </a:solidFill>
          <a:ln w="15240">
            <a:solidFill>
              <a:srgbClr val="3182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26480" y="1234440"/>
            <a:ext cx="5394960" cy="384048"/>
          </a:xfrm>
          <a:prstGeom prst="rect">
            <a:avLst/>
          </a:prstGeom>
          <a:solidFill>
            <a:srgbClr val="3182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63640" y="1271016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Projektziel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3640" y="1691640"/>
            <a:ext cx="5120640" cy="2011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1A202C"/>
                </a:solidFill>
              </a:rPr>
              <a:t>Vollautomatische Auftragsannahme über alle Kanäle</a:t>
            </a:r>
          </a:p>
          <a:p>
            <a:r>
              <a:rPr sz="1200">
                <a:solidFill>
                  <a:srgbClr val="1A202C"/>
                </a:solidFill>
              </a:rPr>
              <a:t>KI extrahiert Daten, prüft Vollständigkeit</a:t>
            </a:r>
          </a:p>
          <a:p>
            <a:r>
              <a:rPr sz="1200">
                <a:solidFill>
                  <a:srgbClr val="1A202C"/>
                </a:solidFill>
              </a:rPr>
              <a:t>Deterministische Preiskalkulation (keine Spielräume)</a:t>
            </a:r>
          </a:p>
          <a:p>
            <a:r>
              <a:rPr sz="1200">
                <a:solidFill>
                  <a:srgbClr val="1A202C"/>
                </a:solidFill>
              </a:rPr>
              <a:t>AI-generiertes, rechtssicheres Angebot (CH)</a:t>
            </a:r>
          </a:p>
          <a:p>
            <a:r>
              <a:rPr sz="1200">
                <a:solidFill>
                  <a:srgbClr val="1A202C"/>
                </a:solidFill>
              </a:rPr>
              <a:t>Mensch prüft nur noch → gibt frei oder lehnt ab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977639"/>
            <a:ext cx="5394960" cy="2606040"/>
          </a:xfrm>
          <a:prstGeom prst="rect">
            <a:avLst/>
          </a:prstGeom>
          <a:solidFill>
            <a:srgbClr val="EBF4FF"/>
          </a:solidFill>
          <a:ln w="15240">
            <a:solidFill>
              <a:srgbClr val="3182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3977639"/>
            <a:ext cx="5394960" cy="384048"/>
          </a:xfrm>
          <a:prstGeom prst="rect">
            <a:avLst/>
          </a:prstGeom>
          <a:solidFill>
            <a:srgbClr val="3182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4014215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Scope &amp; Stakeholder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4434840"/>
            <a:ext cx="512064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1A202C"/>
                </a:solidFill>
              </a:rPr>
              <a:t>Scope: Alle eingehenden Druckaufträge</a:t>
            </a:r>
          </a:p>
          <a:p>
            <a:r>
              <a:rPr sz="1200">
                <a:solidFill>
                  <a:srgbClr val="1A202C"/>
                </a:solidFill>
              </a:rPr>
              <a:t>Kanäle: Mail, Web, WhatsApp, Telegram,</a:t>
            </a:r>
          </a:p>
          <a:p>
            <a:r>
              <a:rPr sz="1200">
                <a:solidFill>
                  <a:srgbClr val="1A202C"/>
                </a:solidFill>
              </a:rPr>
              <a:t>         Telefon, Kontaktformular</a:t>
            </a:r>
          </a:p>
          <a:p>
            <a:r>
              <a:rPr sz="1200">
                <a:solidFill>
                  <a:srgbClr val="1A202C"/>
                </a:solidFill>
              </a:rPr>
              <a:t>Stakeholder: Edgar Glinz (Entscheider)</a:t>
            </a:r>
          </a:p>
          <a:p>
            <a:r>
              <a:rPr sz="1200">
                <a:solidFill>
                  <a:srgbClr val="1A202C"/>
                </a:solidFill>
              </a:rPr>
              <a:t>             Kunden der Schellenberg AG</a:t>
            </a:r>
          </a:p>
          <a:p>
            <a:r>
              <a:rPr sz="1200">
                <a:solidFill>
                  <a:srgbClr val="1A202C"/>
                </a:solidFill>
              </a:rPr>
              <a:t>Ausgeschlossen: Produktion, Rechnungsstellung (Phase 3)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26480" y="3977639"/>
            <a:ext cx="5394960" cy="2606040"/>
          </a:xfrm>
          <a:prstGeom prst="rect">
            <a:avLst/>
          </a:prstGeom>
          <a:solidFill>
            <a:srgbClr val="EBF4FF"/>
          </a:solidFill>
          <a:ln w="15240">
            <a:solidFill>
              <a:srgbClr val="3182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26480" y="3977639"/>
            <a:ext cx="5394960" cy="384048"/>
          </a:xfrm>
          <a:prstGeom prst="rect">
            <a:avLst/>
          </a:prstGeom>
          <a:solidFill>
            <a:srgbClr val="3182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63640" y="4014215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Erfolgskennzahlen (KPIs)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63640" y="4434840"/>
            <a:ext cx="512064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1A202C"/>
                </a:solidFill>
              </a:rPr>
              <a:t>Bearbeitungszeit: &lt; 5 Min. (von 30–60 Min.)</a:t>
            </a:r>
          </a:p>
          <a:p>
            <a:r>
              <a:rPr sz="1200">
                <a:solidFill>
                  <a:srgbClr val="1A202C"/>
                </a:solidFill>
              </a:rPr>
              <a:t>Kalkulationsfehlerrate: 0% (deterministische Logik)</a:t>
            </a:r>
          </a:p>
          <a:p>
            <a:r>
              <a:rPr sz="1200">
                <a:solidFill>
                  <a:srgbClr val="1A202C"/>
                </a:solidFill>
              </a:rPr>
              <a:t>Vollständige Aufträge ohne Rückfrage: &gt; 70%</a:t>
            </a:r>
          </a:p>
          <a:p>
            <a:r>
              <a:rPr sz="1200">
                <a:solidFill>
                  <a:srgbClr val="1A202C"/>
                </a:solidFill>
              </a:rPr>
              <a:t>Angebotserstellungszeit: &lt; 2 Min.</a:t>
            </a:r>
          </a:p>
          <a:p>
            <a:r>
              <a:rPr sz="1200">
                <a:solidFill>
                  <a:srgbClr val="1A202C"/>
                </a:solidFill>
              </a:rPr>
              <a:t>HitL-Freigabequote: Ziel &gt; 90% genehmigt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805A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73152"/>
            <a:ext cx="822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</a:rPr>
              <a:t>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91440"/>
            <a:ext cx="7315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MEASURE – Ist-Zustand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621792"/>
            <a:ext cx="9144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DEEFF"/>
                </a:solidFill>
              </a:rPr>
              <a:t>Wo stehen wir heute? Was kostet der aktuelle Prozess?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0" y="91440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</a:rPr>
              <a:t>Schellenberg Druck AG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34440"/>
            <a:ext cx="3566160" cy="5349240"/>
          </a:xfrm>
          <a:prstGeom prst="rect">
            <a:avLst/>
          </a:prstGeom>
          <a:solidFill>
            <a:srgbClr val="F3EEFD"/>
          </a:solidFill>
          <a:ln w="15240">
            <a:solidFill>
              <a:srgbClr val="805A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234440"/>
            <a:ext cx="3566160" cy="384048"/>
          </a:xfrm>
          <a:prstGeom prst="rect">
            <a:avLst/>
          </a:prstGeom>
          <a:solidFill>
            <a:srgbClr val="805A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271016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Ist-Prozess (manuell)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691640"/>
            <a:ext cx="3291840" cy="480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1A202C"/>
                </a:solidFill>
              </a:rPr>
              <a:t>1.  E-Mail / Anruf eingehend</a:t>
            </a:r>
          </a:p>
          <a:p>
            <a:r>
              <a:rPr sz="1200">
                <a:solidFill>
                  <a:srgbClr val="1A202C"/>
                </a:solidFill>
              </a:rPr>
              <a:t>2.  Sachbearbeiter liest &amp; interpretiert</a:t>
            </a:r>
          </a:p>
          <a:p>
            <a:r>
              <a:rPr sz="1200">
                <a:solidFill>
                  <a:srgbClr val="1A202C"/>
                </a:solidFill>
              </a:rPr>
              <a:t>3.  Fehlende Angaben per Mail anfragen</a:t>
            </a:r>
          </a:p>
          <a:p>
            <a:r>
              <a:rPr sz="1200">
                <a:solidFill>
                  <a:srgbClr val="1A202C"/>
                </a:solidFill>
              </a:rPr>
              <a:t>4.  Warten auf Kundenantwort</a:t>
            </a:r>
          </a:p>
          <a:p>
            <a:r>
              <a:rPr sz="1200">
                <a:solidFill>
                  <a:srgbClr val="1A202C"/>
                </a:solidFill>
              </a:rPr>
              <a:t>5.  Preise in Excel kalkulieren</a:t>
            </a:r>
          </a:p>
          <a:p>
            <a:r>
              <a:rPr sz="1200">
                <a:solidFill>
                  <a:srgbClr val="1A202C"/>
                </a:solidFill>
              </a:rPr>
              <a:t>6.  Word-Vorlage ausfüllen</a:t>
            </a:r>
          </a:p>
          <a:p>
            <a:r>
              <a:rPr sz="1200">
                <a:solidFill>
                  <a:srgbClr val="1A202C"/>
                </a:solidFill>
              </a:rPr>
              <a:t>7.  PDF erstellen &amp; versenden</a:t>
            </a:r>
          </a:p>
          <a:p>
            <a:r>
              <a:rPr sz="1200">
                <a:solidFill>
                  <a:srgbClr val="1A202C"/>
                </a:solidFill>
              </a:rPr>
              <a:t>8.  Auf Freigabe/Rückfragen warten</a:t>
            </a:r>
          </a:p>
          <a:p>
            <a:r>
              <a:rPr sz="1200">
                <a:solidFill>
                  <a:srgbClr val="1A202C"/>
                </a:solidFill>
              </a:rPr>
              <a:t/>
            </a:r>
          </a:p>
          <a:p>
            <a:r>
              <a:rPr sz="1200">
                <a:solidFill>
                  <a:srgbClr val="1A202C"/>
                </a:solidFill>
              </a:rPr>
              <a:t>⏱ Ø Zeitaufwand: 30–60 Min./Auftrag</a:t>
            </a:r>
          </a:p>
          <a:p>
            <a:r>
              <a:rPr sz="1200">
                <a:solidFill>
                  <a:srgbClr val="1A202C"/>
                </a:solidFill>
              </a:rPr>
              <a:t>⚠  Fehlerquellen: Schritt 2, 3, 5, 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51960" y="1234440"/>
            <a:ext cx="3566160" cy="2468880"/>
          </a:xfrm>
          <a:prstGeom prst="rect">
            <a:avLst/>
          </a:prstGeom>
          <a:solidFill>
            <a:srgbClr val="F3EEFD"/>
          </a:solidFill>
          <a:ln w="15240">
            <a:solidFill>
              <a:srgbClr val="805A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51960" y="1234440"/>
            <a:ext cx="3566160" cy="384048"/>
          </a:xfrm>
          <a:prstGeom prst="rect">
            <a:avLst/>
          </a:prstGeom>
          <a:solidFill>
            <a:srgbClr val="805A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89120" y="1271016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Kanäle &amp; Volumen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0" y="1691640"/>
            <a:ext cx="32918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1A202C"/>
                </a:solidFill>
              </a:rPr>
              <a:t>E-Mail         ~60% der Anfragen</a:t>
            </a:r>
          </a:p>
          <a:p>
            <a:r>
              <a:rPr sz="1200">
                <a:solidFill>
                  <a:srgbClr val="1A202C"/>
                </a:solidFill>
              </a:rPr>
              <a:t>Telefon        ~25% der Anfragen</a:t>
            </a:r>
          </a:p>
          <a:p>
            <a:r>
              <a:rPr sz="1200">
                <a:solidFill>
                  <a:srgbClr val="1A202C"/>
                </a:solidFill>
              </a:rPr>
              <a:t>Web-Formular   ~10% der Anfragen</a:t>
            </a:r>
          </a:p>
          <a:p>
            <a:r>
              <a:rPr sz="1200">
                <a:solidFill>
                  <a:srgbClr val="1A202C"/>
                </a:solidFill>
              </a:rPr>
              <a:t>Andere         ~5% der Anfragen</a:t>
            </a:r>
          </a:p>
          <a:p>
            <a:r>
              <a:rPr sz="1200">
                <a:solidFill>
                  <a:srgbClr val="1A202C"/>
                </a:solidFill>
              </a:rPr>
              <a:t/>
            </a:r>
          </a:p>
          <a:p>
            <a:r>
              <a:rPr sz="1200">
                <a:solidFill>
                  <a:srgbClr val="1A202C"/>
                </a:solidFill>
              </a:rPr>
              <a:t>Ziel: Alle Kanäle automatisiert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51960" y="3886200"/>
            <a:ext cx="3566160" cy="2697480"/>
          </a:xfrm>
          <a:prstGeom prst="rect">
            <a:avLst/>
          </a:prstGeom>
          <a:solidFill>
            <a:srgbClr val="F3EEFD"/>
          </a:solidFill>
          <a:ln w="15240">
            <a:solidFill>
              <a:srgbClr val="805A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251960" y="3886200"/>
            <a:ext cx="3566160" cy="384048"/>
          </a:xfrm>
          <a:prstGeom prst="rect">
            <a:avLst/>
          </a:prstGeom>
          <a:solidFill>
            <a:srgbClr val="805A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89120" y="3922776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Fehlerquellen-Analyse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0" y="4343400"/>
            <a:ext cx="329184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1A202C"/>
                </a:solidFill>
              </a:rPr>
              <a:t>Falsche Grammatur → Preisfehler</a:t>
            </a:r>
          </a:p>
          <a:p>
            <a:r>
              <a:rPr sz="1200">
                <a:solidFill>
                  <a:srgbClr val="1A202C"/>
                </a:solidFill>
              </a:rPr>
              <a:t>Thread-Kontext vergessen</a:t>
            </a:r>
          </a:p>
          <a:p>
            <a:r>
              <a:rPr sz="1200">
                <a:solidFill>
                  <a:srgbClr val="1A202C"/>
                </a:solidFill>
              </a:rPr>
              <a:t>Format-Tippfehler (A4 vs. DIN lang)</a:t>
            </a:r>
          </a:p>
          <a:p>
            <a:r>
              <a:rPr sz="1200">
                <a:solidFill>
                  <a:srgbClr val="1A202C"/>
                </a:solidFill>
              </a:rPr>
              <a:t>Mehrprodukt-Aufträge übersehen</a:t>
            </a:r>
          </a:p>
          <a:p>
            <a:r>
              <a:rPr sz="1200">
                <a:solidFill>
                  <a:srgbClr val="1A202C"/>
                </a:solidFill>
              </a:rPr>
              <a:t>Keine Fristenprüfung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46720" y="1234440"/>
            <a:ext cx="3931920" cy="5349240"/>
          </a:xfrm>
          <a:prstGeom prst="rect">
            <a:avLst/>
          </a:prstGeom>
          <a:solidFill>
            <a:srgbClr val="F3EEFD"/>
          </a:solidFill>
          <a:ln w="15240">
            <a:solidFill>
              <a:srgbClr val="805A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46720" y="1234440"/>
            <a:ext cx="3931920" cy="384048"/>
          </a:xfrm>
          <a:prstGeom prst="rect">
            <a:avLst/>
          </a:prstGeom>
          <a:solidFill>
            <a:srgbClr val="805A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83880" y="1271016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Baseline Kennzahlen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83880" y="1691640"/>
            <a:ext cx="3657600" cy="480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1A202C"/>
                </a:solidFill>
              </a:rPr>
              <a:t>Bearbeitungszeit heute:</a:t>
            </a:r>
          </a:p>
          <a:p>
            <a:r>
              <a:rPr sz="1200">
                <a:solidFill>
                  <a:srgbClr val="1A202C"/>
                </a:solidFill>
              </a:rPr>
              <a:t>  → Einfacher Auftrag:    ~30 Min.</a:t>
            </a:r>
          </a:p>
          <a:p>
            <a:r>
              <a:rPr sz="1200">
                <a:solidFill>
                  <a:srgbClr val="1A202C"/>
                </a:solidFill>
              </a:rPr>
              <a:t>  → Komplexer Auftrag:    ~60 Min.</a:t>
            </a:r>
          </a:p>
          <a:p>
            <a:r>
              <a:rPr sz="1200">
                <a:solidFill>
                  <a:srgbClr val="1A202C"/>
                </a:solidFill>
              </a:rPr>
              <a:t>  → Mit Rückfragen:      ~2–3 Tage</a:t>
            </a:r>
          </a:p>
          <a:p>
            <a:r>
              <a:rPr sz="1200">
                <a:solidFill>
                  <a:srgbClr val="1A202C"/>
                </a:solidFill>
              </a:rPr>
              <a:t/>
            </a:r>
          </a:p>
          <a:p>
            <a:r>
              <a:rPr sz="1200">
                <a:solidFill>
                  <a:srgbClr val="1A202C"/>
                </a:solidFill>
              </a:rPr>
              <a:t>Fehlerrate Kalkulation:   ~15–20%</a:t>
            </a:r>
          </a:p>
          <a:p>
            <a:r>
              <a:rPr sz="1200">
                <a:solidFill>
                  <a:srgbClr val="1A202C"/>
                </a:solidFill>
              </a:rPr>
              <a:t>(geschätzt, keine Messung)</a:t>
            </a:r>
          </a:p>
          <a:p>
            <a:r>
              <a:rPr sz="1200">
                <a:solidFill>
                  <a:srgbClr val="1A202C"/>
                </a:solidFill>
              </a:rPr>
              <a:t/>
            </a:r>
          </a:p>
          <a:p>
            <a:r>
              <a:rPr sz="1200">
                <a:solidFill>
                  <a:srgbClr val="1A202C"/>
                </a:solidFill>
              </a:rPr>
              <a:t>Angebote pro Woche: variabel</a:t>
            </a:r>
          </a:p>
          <a:p>
            <a:r>
              <a:rPr sz="1200">
                <a:solidFill>
                  <a:srgbClr val="1A202C"/>
                </a:solidFill>
              </a:rPr>
              <a:t/>
            </a:r>
          </a:p>
          <a:p>
            <a:r>
              <a:rPr sz="1200">
                <a:solidFill>
                  <a:srgbClr val="1A202C"/>
                </a:solidFill>
              </a:rPr>
              <a:t>Ziel nach Verbesserung:</a:t>
            </a:r>
          </a:p>
          <a:p>
            <a:r>
              <a:rPr sz="1200">
                <a:solidFill>
                  <a:srgbClr val="1A202C"/>
                </a:solidFill>
              </a:rPr>
              <a:t>  → Bearbeitungszeit: &lt; 5 Min.</a:t>
            </a:r>
          </a:p>
          <a:p>
            <a:r>
              <a:rPr sz="1200">
                <a:solidFill>
                  <a:srgbClr val="1A202C"/>
                </a:solidFill>
              </a:rPr>
              <a:t>  → Fehlerrate Kalk.: 0%</a:t>
            </a:r>
          </a:p>
          <a:p>
            <a:r>
              <a:rPr sz="1200">
                <a:solidFill>
                  <a:srgbClr val="1A202C"/>
                </a:solidFill>
              </a:rPr>
              <a:t>  → Rückfragen: automatisch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DD6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73152"/>
            <a:ext cx="822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91440"/>
            <a:ext cx="7315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ANALYZE – Ursachenanalyse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621792"/>
            <a:ext cx="9144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DEEFF"/>
                </a:solidFill>
              </a:rPr>
              <a:t>Warum ist der Prozess fehleranfällig und langsam?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0" y="91440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</a:rPr>
              <a:t>Schellenberg Druck AG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34440"/>
            <a:ext cx="3657600" cy="3291840"/>
          </a:xfrm>
          <a:prstGeom prst="rect">
            <a:avLst/>
          </a:prstGeom>
          <a:solidFill>
            <a:srgbClr val="FFF0E6"/>
          </a:solidFill>
          <a:ln w="15240">
            <a:solidFill>
              <a:srgbClr val="DD6B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234440"/>
            <a:ext cx="3657600" cy="384048"/>
          </a:xfrm>
          <a:prstGeom prst="rect">
            <a:avLst/>
          </a:prstGeom>
          <a:solidFill>
            <a:srgbClr val="DD6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271016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Keine Standardisierung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691640"/>
            <a:ext cx="33832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1A202C"/>
                </a:solidFill>
              </a:rPr>
              <a:t>Kunden liefern Infos in beliebigem Format</a:t>
            </a:r>
          </a:p>
          <a:p>
            <a:r>
              <a:rPr sz="1200">
                <a:solidFill>
                  <a:srgbClr val="1A202C"/>
                </a:solidFill>
              </a:rPr>
              <a:t>Kein einheitliches Bestellformular</a:t>
            </a:r>
          </a:p>
          <a:p>
            <a:r>
              <a:rPr sz="1200">
                <a:solidFill>
                  <a:srgbClr val="1A202C"/>
                </a:solidFill>
              </a:rPr>
              <a:t>Jeder Sachbearbeiter arbeitet anders</a:t>
            </a:r>
          </a:p>
          <a:p>
            <a:r>
              <a:rPr sz="1200">
                <a:solidFill>
                  <a:srgbClr val="1A202C"/>
                </a:solidFill>
              </a:rPr>
              <a:t>Keine Vollständigkeits-Checkliste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97680" y="1234440"/>
            <a:ext cx="3657600" cy="3291840"/>
          </a:xfrm>
          <a:prstGeom prst="rect">
            <a:avLst/>
          </a:prstGeom>
          <a:solidFill>
            <a:srgbClr val="FFF0E6"/>
          </a:solidFill>
          <a:ln w="15240">
            <a:solidFill>
              <a:srgbClr val="DD6B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97680" y="1234440"/>
            <a:ext cx="3657600" cy="384048"/>
          </a:xfrm>
          <a:prstGeom prst="rect">
            <a:avLst/>
          </a:prstGeom>
          <a:solidFill>
            <a:srgbClr val="DD6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34840" y="1271016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Manuelle Kalkulation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4840" y="1691640"/>
            <a:ext cx="33832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1A202C"/>
                </a:solidFill>
              </a:rPr>
              <a:t>Preistabellen in Excel – fehleranfällig</a:t>
            </a:r>
          </a:p>
          <a:p>
            <a:r>
              <a:rPr sz="1200">
                <a:solidFill>
                  <a:srgbClr val="1A202C"/>
                </a:solidFill>
              </a:rPr>
              <a:t>Expresszuschläge oft vergessen</a:t>
            </a:r>
          </a:p>
          <a:p>
            <a:r>
              <a:rPr sz="1200">
                <a:solidFill>
                  <a:srgbClr val="1A202C"/>
                </a:solidFill>
              </a:rPr>
              <a:t>Marge nicht systematisch geprüft</a:t>
            </a:r>
          </a:p>
          <a:p>
            <a:r>
              <a:rPr sz="1200">
                <a:solidFill>
                  <a:srgbClr val="1A202C"/>
                </a:solidFill>
              </a:rPr>
              <a:t>Mehrprodukt-Summen falsch addiert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38160" y="1234440"/>
            <a:ext cx="3657600" cy="3291840"/>
          </a:xfrm>
          <a:prstGeom prst="rect">
            <a:avLst/>
          </a:prstGeom>
          <a:solidFill>
            <a:srgbClr val="FFF0E6"/>
          </a:solidFill>
          <a:ln w="15240">
            <a:solidFill>
              <a:srgbClr val="DD6B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38160" y="1234440"/>
            <a:ext cx="3657600" cy="384048"/>
          </a:xfrm>
          <a:prstGeom prst="rect">
            <a:avLst/>
          </a:prstGeom>
          <a:solidFill>
            <a:srgbClr val="DD6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75320" y="1271016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Informationsverlust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75320" y="1691640"/>
            <a:ext cx="33832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1A202C"/>
                </a:solidFill>
              </a:rPr>
              <a:t>E-Mail-Thread wird nicht vollständig gelesen</a:t>
            </a:r>
          </a:p>
          <a:p>
            <a:r>
              <a:rPr sz="1200">
                <a:solidFill>
                  <a:srgbClr val="1A202C"/>
                </a:solidFill>
              </a:rPr>
              <a:t>Frühere Angaben gehen bei Rückfragen verloren</a:t>
            </a:r>
          </a:p>
          <a:p>
            <a:r>
              <a:rPr sz="1200">
                <a:solidFill>
                  <a:srgbClr val="1A202C"/>
                </a:solidFill>
              </a:rPr>
              <a:t>Kein zentrales Auftragssystem</a:t>
            </a:r>
          </a:p>
          <a:p>
            <a:r>
              <a:rPr sz="1200">
                <a:solidFill>
                  <a:srgbClr val="1A202C"/>
                </a:solidFill>
              </a:rPr>
              <a:t>Anhänge werden übersehen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709160"/>
            <a:ext cx="11247120" cy="1920240"/>
          </a:xfrm>
          <a:prstGeom prst="rect">
            <a:avLst/>
          </a:prstGeom>
          <a:solidFill>
            <a:srgbClr val="FFF0E6"/>
          </a:solidFill>
          <a:ln w="15240">
            <a:solidFill>
              <a:srgbClr val="DD6B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" y="4709160"/>
            <a:ext cx="11247120" cy="384048"/>
          </a:xfrm>
          <a:prstGeom prst="rect">
            <a:avLst/>
          </a:prstGeom>
          <a:solidFill>
            <a:srgbClr val="DD6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4754880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Ableitung: Lösungsansatz für IMPROVE-Phase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16636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DD6B20"/>
                </a:solidFill>
              </a:rPr>
              <a:t>Standardisierung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5532120"/>
            <a:ext cx="26517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A5568"/>
                </a:solidFill>
              </a:rPr>
              <a:t>KI-Extraktion + JSON-Schema erzwingt Vollständigkeit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29000" y="516636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DD6B20"/>
                </a:solidFill>
              </a:rPr>
              <a:t>Kalkulation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29000" y="5532120"/>
            <a:ext cx="26517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A5568"/>
                </a:solidFill>
              </a:rPr>
              <a:t>Fixe Preistabellen im Prompt – kein Ermessensspielraum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17920" y="516636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DD6B20"/>
                </a:solidFill>
              </a:rPr>
              <a:t>Thread-Kontext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17920" y="5532120"/>
            <a:ext cx="26517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A5568"/>
                </a:solidFill>
              </a:rPr>
              <a:t>AI liest gesamten E-Mail-Verlauf, merkt sich Auftragsnummer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06839" y="516636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DD6B20"/>
                </a:solidFill>
              </a:rPr>
              <a:t>Multi-Kanal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06839" y="5532120"/>
            <a:ext cx="26517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A5568"/>
                </a:solidFill>
              </a:rPr>
              <a:t>6 Kanäle werden normalisiert auf identisches JSON-Format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38A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73152"/>
            <a:ext cx="822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91440"/>
            <a:ext cx="7315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IMPROVE – Lösung: n8n KI-Workflow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621792"/>
            <a:ext cx="9144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DEEFF"/>
                </a:solidFill>
              </a:rPr>
              <a:t>Von der Idee zur automatisierten Auftragsannahme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0" y="91440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</a:rPr>
              <a:t>Schellenberg Druck AG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234440"/>
            <a:ext cx="1691640" cy="2286000"/>
          </a:xfrm>
          <a:prstGeom prst="rect">
            <a:avLst/>
          </a:prstGeom>
          <a:solidFill>
            <a:srgbClr val="EAF7EE"/>
          </a:solidFill>
          <a:ln w="15240">
            <a:solidFill>
              <a:srgbClr val="38A1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234440"/>
            <a:ext cx="1691640" cy="365760"/>
          </a:xfrm>
          <a:prstGeom prst="rect">
            <a:avLst/>
          </a:prstGeom>
          <a:solidFill>
            <a:srgbClr val="38A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298448"/>
            <a:ext cx="1691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</a:rPr>
              <a:t>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737360"/>
            <a:ext cx="1508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A202C"/>
                </a:solidFill>
              </a:rPr>
              <a:t>Multi-Channel
Input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423160"/>
            <a:ext cx="1508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4A5568"/>
                </a:solidFill>
              </a:rPr>
              <a:t>6 Kanäle
normalisiert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40280" y="2194560"/>
            <a:ext cx="18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38A169"/>
                </a:solidFill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395728" y="1234440"/>
            <a:ext cx="1691640" cy="2286000"/>
          </a:xfrm>
          <a:prstGeom prst="rect">
            <a:avLst/>
          </a:prstGeom>
          <a:solidFill>
            <a:srgbClr val="EAF7EE"/>
          </a:solidFill>
          <a:ln w="15240">
            <a:solidFill>
              <a:srgbClr val="38A1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395728" y="1234440"/>
            <a:ext cx="1691640" cy="365760"/>
          </a:xfrm>
          <a:prstGeom prst="rect">
            <a:avLst/>
          </a:prstGeom>
          <a:solidFill>
            <a:srgbClr val="38A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395728" y="1298448"/>
            <a:ext cx="1691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</a:rPr>
              <a:t>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87168" y="1737360"/>
            <a:ext cx="1508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A202C"/>
                </a:solidFill>
              </a:rPr>
              <a:t>Vollständig-
keitsprüfung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87168" y="2423160"/>
            <a:ext cx="1508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4A5568"/>
                </a:solidFill>
              </a:rPr>
              <a:t>Claude AI
+ Schema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87368" y="2194560"/>
            <a:ext cx="18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38A169"/>
                </a:solidFill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42816" y="1234440"/>
            <a:ext cx="1691640" cy="2286000"/>
          </a:xfrm>
          <a:prstGeom prst="rect">
            <a:avLst/>
          </a:prstGeom>
          <a:solidFill>
            <a:srgbClr val="EAF7EE"/>
          </a:solidFill>
          <a:ln w="15240">
            <a:solidFill>
              <a:srgbClr val="38A1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242816" y="1234440"/>
            <a:ext cx="1691640" cy="365760"/>
          </a:xfrm>
          <a:prstGeom prst="rect">
            <a:avLst/>
          </a:prstGeom>
          <a:solidFill>
            <a:srgbClr val="38A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242816" y="1298448"/>
            <a:ext cx="1691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</a:rPr>
              <a:t>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34255" y="1737360"/>
            <a:ext cx="1508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A202C"/>
                </a:solidFill>
              </a:rPr>
              <a:t>Preis-
kalkulation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34255" y="2423160"/>
            <a:ext cx="1508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4A5568"/>
                </a:solidFill>
              </a:rPr>
              <a:t>Deterministisch
Fixpreise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34456" y="2194560"/>
            <a:ext cx="18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38A169"/>
                </a:solidFill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89904" y="1234440"/>
            <a:ext cx="1691640" cy="2286000"/>
          </a:xfrm>
          <a:prstGeom prst="rect">
            <a:avLst/>
          </a:prstGeom>
          <a:solidFill>
            <a:srgbClr val="EAF7EE"/>
          </a:solidFill>
          <a:ln w="15240">
            <a:solidFill>
              <a:srgbClr val="38A1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089904" y="1234440"/>
            <a:ext cx="1691640" cy="365760"/>
          </a:xfrm>
          <a:prstGeom prst="rect">
            <a:avLst/>
          </a:prstGeom>
          <a:solidFill>
            <a:srgbClr val="38A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89904" y="1298448"/>
            <a:ext cx="1691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</a:rPr>
              <a:t>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81344" y="1737360"/>
            <a:ext cx="1508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A202C"/>
                </a:solidFill>
              </a:rPr>
              <a:t>Offerte
generieren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81344" y="2423160"/>
            <a:ext cx="1508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4A5568"/>
                </a:solidFill>
              </a:rPr>
              <a:t>Google Docs
CH-konform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81544" y="2194560"/>
            <a:ext cx="18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38A169"/>
                </a:solidFill>
              </a:rPr>
              <a:t>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936992" y="1234440"/>
            <a:ext cx="1691640" cy="2286000"/>
          </a:xfrm>
          <a:prstGeom prst="rect">
            <a:avLst/>
          </a:prstGeom>
          <a:solidFill>
            <a:srgbClr val="EAF7EE"/>
          </a:solidFill>
          <a:ln w="15240">
            <a:solidFill>
              <a:srgbClr val="38A1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936992" y="1234440"/>
            <a:ext cx="1691640" cy="365760"/>
          </a:xfrm>
          <a:prstGeom prst="rect">
            <a:avLst/>
          </a:prstGeom>
          <a:solidFill>
            <a:srgbClr val="38A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936992" y="1298448"/>
            <a:ext cx="1691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</a:rPr>
              <a:t>👁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28431" y="1737360"/>
            <a:ext cx="1508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A202C"/>
                </a:solidFill>
              </a:rPr>
              <a:t>HitL
Freigabe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28431" y="2423160"/>
            <a:ext cx="1508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4A5568"/>
                </a:solidFill>
              </a:rPr>
              <a:t>Wait-Node
Edgar entsch.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28632" y="2194560"/>
            <a:ext cx="18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38A169"/>
                </a:solidFill>
              </a:rPr>
              <a:t>→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784080" y="1234440"/>
            <a:ext cx="1691640" cy="2286000"/>
          </a:xfrm>
          <a:prstGeom prst="rect">
            <a:avLst/>
          </a:prstGeom>
          <a:solidFill>
            <a:srgbClr val="EAF7EE"/>
          </a:solidFill>
          <a:ln w="15240">
            <a:solidFill>
              <a:srgbClr val="38A1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784080" y="1234440"/>
            <a:ext cx="1691640" cy="365760"/>
          </a:xfrm>
          <a:prstGeom prst="rect">
            <a:avLst/>
          </a:prstGeom>
          <a:solidFill>
            <a:srgbClr val="38A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784080" y="1298448"/>
            <a:ext cx="1691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</a:rPr>
              <a:t>✉️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875519" y="1737360"/>
            <a:ext cx="1508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A202C"/>
                </a:solidFill>
              </a:rPr>
              <a:t>Versand
Kunde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875519" y="2423160"/>
            <a:ext cx="1508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4A5568"/>
                </a:solidFill>
              </a:rPr>
              <a:t>Angebot oder
Nachfrage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3703320"/>
            <a:ext cx="5394960" cy="2880360"/>
          </a:xfrm>
          <a:prstGeom prst="rect">
            <a:avLst/>
          </a:prstGeom>
          <a:solidFill>
            <a:srgbClr val="EAF7EE"/>
          </a:solidFill>
          <a:ln w="15240">
            <a:solidFill>
              <a:srgbClr val="38A1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57200" y="3703320"/>
            <a:ext cx="5394960" cy="384048"/>
          </a:xfrm>
          <a:prstGeom prst="rect">
            <a:avLst/>
          </a:prstGeom>
          <a:solidFill>
            <a:srgbClr val="38A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94360" y="3739896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Technologie-Stack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4360" y="4160520"/>
            <a:ext cx="5120640" cy="233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1A202C"/>
                </a:solidFill>
              </a:rPr>
              <a:t>Automation:     n8n (self-hosted / cloud)</a:t>
            </a:r>
          </a:p>
          <a:p>
            <a:r>
              <a:rPr sz="1200">
                <a:solidFill>
                  <a:srgbClr val="1A202C"/>
                </a:solidFill>
              </a:rPr>
              <a:t>AI-Modell:      Claude (Anthropic)</a:t>
            </a:r>
          </a:p>
          <a:p>
            <a:r>
              <a:rPr sz="1200">
                <a:solidFill>
                  <a:srgbClr val="1A202C"/>
                </a:solidFill>
              </a:rPr>
              <a:t>E-Mail:         Gmail (G-Suite)</a:t>
            </a:r>
          </a:p>
          <a:p>
            <a:r>
              <a:rPr sz="1200">
                <a:solidFill>
                  <a:srgbClr val="1A202C"/>
                </a:solidFill>
              </a:rPr>
              <a:t>Dokumente:      Google Docs</a:t>
            </a:r>
          </a:p>
          <a:p>
            <a:r>
              <a:rPr sz="1200">
                <a:solidFill>
                  <a:srgbClr val="1A202C"/>
                </a:solidFill>
              </a:rPr>
              <a:t>Kanäle:         Twilio, WhatsApp, Telegram</a:t>
            </a:r>
          </a:p>
          <a:p>
            <a:r>
              <a:rPr sz="1200">
                <a:solidFill>
                  <a:srgbClr val="1A202C"/>
                </a:solidFill>
              </a:rPr>
              <a:t>Speicher:       n8n Store / Google Sheets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126480" y="3703320"/>
            <a:ext cx="5394960" cy="2880360"/>
          </a:xfrm>
          <a:prstGeom prst="rect">
            <a:avLst/>
          </a:prstGeom>
          <a:solidFill>
            <a:srgbClr val="EAF7EE"/>
          </a:solidFill>
          <a:ln w="15240">
            <a:solidFill>
              <a:srgbClr val="38A1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126480" y="3703320"/>
            <a:ext cx="5394960" cy="384048"/>
          </a:xfrm>
          <a:prstGeom prst="rect">
            <a:avLst/>
          </a:prstGeom>
          <a:solidFill>
            <a:srgbClr val="38A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263640" y="3739896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Schlüsselentscheide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263640" y="4160520"/>
            <a:ext cx="5120640" cy="233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1A202C"/>
                </a:solidFill>
              </a:rPr>
              <a:t>JSON-Schema erzwingt strukturierten Output</a:t>
            </a:r>
          </a:p>
          <a:p>
            <a:r>
              <a:rPr sz="1200">
                <a:solidFill>
                  <a:srgbClr val="1A202C"/>
                </a:solidFill>
              </a:rPr>
              <a:t>Flat Fields (produkt_1...5) für Kanal-Kompatibilität</a:t>
            </a:r>
          </a:p>
          <a:p>
            <a:r>
              <a:rPr sz="1200">
                <a:solidFill>
                  <a:srgbClr val="1A202C"/>
                </a:solidFill>
              </a:rPr>
              <a:t>Determin. Kalkulation: kein AI-Spielraum</a:t>
            </a:r>
          </a:p>
          <a:p>
            <a:r>
              <a:rPr sz="1200">
                <a:solidFill>
                  <a:srgbClr val="1A202C"/>
                </a:solidFill>
              </a:rPr>
              <a:t>Google Docs statt Plain-Text für Formatierung</a:t>
            </a:r>
          </a:p>
          <a:p>
            <a:r>
              <a:rPr sz="1200">
                <a:solidFill>
                  <a:srgbClr val="1A202C"/>
                </a:solidFill>
              </a:rPr>
              <a:t>Wait-Node statt Zapier HitL (mehr Kontrolle)</a:t>
            </a:r>
          </a:p>
          <a:p>
            <a:r>
              <a:rPr sz="1200">
                <a:solidFill>
                  <a:srgbClr val="1A202C"/>
                </a:solidFill>
              </a:rPr>
              <a:t>Auftragsnr. DR-YYYY-MMDDHHNN als Loop-Anker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38A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73152"/>
            <a:ext cx="822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91440"/>
            <a:ext cx="7315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IMPROVE – Multi-Channel &amp; KI-Analyse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621792"/>
            <a:ext cx="9144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DEEFF"/>
                </a:solidFill>
              </a:rPr>
              <a:t>Alle Kanäle – eine normalisierte Datenbasis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0" y="91440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</a:rPr>
              <a:t>Schellenberg Druck AG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34440"/>
            <a:ext cx="3657600" cy="1920240"/>
          </a:xfrm>
          <a:prstGeom prst="rect">
            <a:avLst/>
          </a:prstGeom>
          <a:solidFill>
            <a:srgbClr val="EAF7EE"/>
          </a:solidFill>
          <a:ln w="15240">
            <a:solidFill>
              <a:srgbClr val="38A1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234440"/>
            <a:ext cx="3657600" cy="365760"/>
          </a:xfrm>
          <a:prstGeom prst="rect">
            <a:avLst/>
          </a:prstGeom>
          <a:solidFill>
            <a:srgbClr val="38A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1280160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📧 Gmail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54680" y="1280160"/>
            <a:ext cx="914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FFFFFF"/>
                </a:solidFill>
              </a:rPr>
              <a:t>✅ Aktiv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1691640"/>
            <a:ext cx="17830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02C"/>
                </a:solidFill>
              </a:rPr>
              <a:t>E-Mail-Thread
abrufen &amp; zusammenfassen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77440" y="1691640"/>
            <a:ext cx="164592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4A5568"/>
                </a:solidFill>
              </a:rPr>
              <a:t>Thread-ID
als Loop-Anker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43400" y="1234440"/>
            <a:ext cx="3657600" cy="1920240"/>
          </a:xfrm>
          <a:prstGeom prst="rect">
            <a:avLst/>
          </a:prstGeom>
          <a:solidFill>
            <a:srgbClr val="EAF7EE"/>
          </a:solidFill>
          <a:ln w="15240">
            <a:solidFill>
              <a:srgbClr val="38A1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43400" y="1234440"/>
            <a:ext cx="3657600" cy="365760"/>
          </a:xfrm>
          <a:prstGeom prst="rect">
            <a:avLst/>
          </a:prstGeom>
          <a:solidFill>
            <a:srgbClr val="38A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53128" y="1280160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🌐 Webformular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0" y="1280160"/>
            <a:ext cx="914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FFFFFF"/>
                </a:solidFill>
              </a:rPr>
              <a:t>✅ Aktiv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53128" y="1691640"/>
            <a:ext cx="17830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02C"/>
                </a:solidFill>
              </a:rPr>
              <a:t>Strukturierter
Webhook-Input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1691640"/>
            <a:ext cx="164592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4A5568"/>
                </a:solidFill>
              </a:rPr>
              <a:t>Einmalig,
kein Loop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0" y="1234440"/>
            <a:ext cx="3657600" cy="1920240"/>
          </a:xfrm>
          <a:prstGeom prst="rect">
            <a:avLst/>
          </a:prstGeom>
          <a:solidFill>
            <a:srgbClr val="EAF7EE"/>
          </a:solidFill>
          <a:ln w="15240">
            <a:solidFill>
              <a:srgbClr val="38A1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29600" y="1234440"/>
            <a:ext cx="3657600" cy="365760"/>
          </a:xfrm>
          <a:prstGeom prst="rect">
            <a:avLst/>
          </a:prstGeom>
          <a:solidFill>
            <a:srgbClr val="38A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39327" y="1280160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📞 Telefon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27080" y="1280160"/>
            <a:ext cx="914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FFFFFF"/>
                </a:solidFill>
              </a:rPr>
              <a:t>⏳ Phase 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39327" y="1691640"/>
            <a:ext cx="17830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02C"/>
                </a:solidFill>
              </a:rPr>
              <a:t>Twilio → Deepgram
Transkription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49840" y="1691640"/>
            <a:ext cx="164592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4A5568"/>
                </a:solidFill>
              </a:rPr>
              <a:t>Aufnahme-URL
→ Text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3429000"/>
            <a:ext cx="3657600" cy="1920240"/>
          </a:xfrm>
          <a:prstGeom prst="rect">
            <a:avLst/>
          </a:prstGeom>
          <a:solidFill>
            <a:srgbClr val="EAF7EE"/>
          </a:solidFill>
          <a:ln w="15240">
            <a:solidFill>
              <a:srgbClr val="38A1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3429000"/>
            <a:ext cx="3657600" cy="365760"/>
          </a:xfrm>
          <a:prstGeom prst="rect">
            <a:avLst/>
          </a:prstGeom>
          <a:solidFill>
            <a:srgbClr val="38A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928" y="3474720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💬 WhatsApp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154680" y="3474720"/>
            <a:ext cx="914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FFFFFF"/>
                </a:solidFill>
              </a:rPr>
              <a:t>⏳ Credentials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6928" y="3886200"/>
            <a:ext cx="17830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02C"/>
                </a:solidFill>
              </a:rPr>
              <a:t>Business API
+ Kontext-Speicher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377440" y="3886200"/>
            <a:ext cx="164592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4A5568"/>
                </a:solidFill>
              </a:rPr>
              <a:t>Chat-ID
→ Auftragsnr.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43400" y="3429000"/>
            <a:ext cx="3657600" cy="1920240"/>
          </a:xfrm>
          <a:prstGeom prst="rect">
            <a:avLst/>
          </a:prstGeom>
          <a:solidFill>
            <a:srgbClr val="EAF7EE"/>
          </a:solidFill>
          <a:ln w="15240">
            <a:solidFill>
              <a:srgbClr val="38A1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343400" y="3429000"/>
            <a:ext cx="3657600" cy="365760"/>
          </a:xfrm>
          <a:prstGeom prst="rect">
            <a:avLst/>
          </a:prstGeom>
          <a:solidFill>
            <a:srgbClr val="38A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453128" y="3474720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📋 Formular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40880" y="3474720"/>
            <a:ext cx="914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FFFFFF"/>
                </a:solidFill>
              </a:rPr>
              <a:t>✅ Aktiv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53128" y="3886200"/>
            <a:ext cx="17830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02C"/>
                </a:solidFill>
              </a:rPr>
              <a:t>n8n-Native Form
strukturiert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63640" y="3886200"/>
            <a:ext cx="164592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4A5568"/>
                </a:solidFill>
              </a:rPr>
              <a:t>Einmalig,
kein Loop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229600" y="3429000"/>
            <a:ext cx="3657600" cy="1920240"/>
          </a:xfrm>
          <a:prstGeom prst="rect">
            <a:avLst/>
          </a:prstGeom>
          <a:solidFill>
            <a:srgbClr val="EAF7EE"/>
          </a:solidFill>
          <a:ln w="15240">
            <a:solidFill>
              <a:srgbClr val="38A1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229600" y="3429000"/>
            <a:ext cx="3657600" cy="365760"/>
          </a:xfrm>
          <a:prstGeom prst="rect">
            <a:avLst/>
          </a:prstGeom>
          <a:solidFill>
            <a:srgbClr val="38A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339327" y="3474720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✈️ Telegram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927080" y="3474720"/>
            <a:ext cx="914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FFFFFF"/>
                </a:solidFill>
              </a:rPr>
              <a:t>⏳ Credentials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39327" y="3886200"/>
            <a:ext cx="17830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02C"/>
                </a:solidFill>
              </a:rPr>
              <a:t>Bot-Trigger
+ Kontext-Speicher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149840" y="3886200"/>
            <a:ext cx="164592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4A5568"/>
                </a:solidFill>
              </a:rPr>
              <a:t>Chat-ID
→ Auftragsnr.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57200" y="5806440"/>
            <a:ext cx="11247120" cy="777240"/>
          </a:xfrm>
          <a:prstGeom prst="rect">
            <a:avLst/>
          </a:prstGeom>
          <a:solidFill>
            <a:srgbClr val="EAF7EE"/>
          </a:solidFill>
          <a:ln w="15240">
            <a:solidFill>
              <a:srgbClr val="38A1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0080" y="5943600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8A169"/>
                </a:solidFill>
              </a:rPr>
              <a:t>→  Alle Kanäle → 'Quellen zusammenführen' → Normalisierter JSON → Claude Vollständigkeitsprüfung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38A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73152"/>
            <a:ext cx="822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91440"/>
            <a:ext cx="7315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IMPROVE – Kalkulation &amp; Offerte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621792"/>
            <a:ext cx="9144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DEEFF"/>
                </a:solidFill>
              </a:rPr>
              <a:t>Deterministischer Preis · Rechtssicheres Dokument · Google Docs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0" y="91440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</a:rPr>
              <a:t>Schellenberg Druck AG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34440"/>
            <a:ext cx="5394960" cy="5349240"/>
          </a:xfrm>
          <a:prstGeom prst="rect">
            <a:avLst/>
          </a:prstGeom>
          <a:solidFill>
            <a:srgbClr val="EAF7EE"/>
          </a:solidFill>
          <a:ln w="15240">
            <a:solidFill>
              <a:srgbClr val="38A1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234440"/>
            <a:ext cx="5394960" cy="384048"/>
          </a:xfrm>
          <a:prstGeom prst="rect">
            <a:avLst/>
          </a:prstGeom>
          <a:solidFill>
            <a:srgbClr val="38A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280160"/>
            <a:ext cx="5120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Preiskalkulation (Claude AI – Fixregeln)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719072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1A202C"/>
                </a:solidFill>
              </a:rPr>
              <a:t>1.  Gesamtbogen = CEIL((Auflage × 1.08) / 50) × 50</a:t>
            </a:r>
          </a:p>
          <a:p>
            <a:r>
              <a:rPr sz="1100">
                <a:solidFill>
                  <a:srgbClr val="1A202C"/>
                </a:solidFill>
              </a:rPr>
              <a:t>2.  Papierkosten aus Fixpreistabelle (CHF/1000 Bogen)</a:t>
            </a:r>
          </a:p>
          <a:p>
            <a:r>
              <a:rPr sz="1100">
                <a:solidFill>
                  <a:srgbClr val="1A202C"/>
                </a:solidFill>
              </a:rPr>
              <a:t>    90g Offset: 18.– | 170g glänzend: 41.–</a:t>
            </a:r>
          </a:p>
          <a:p>
            <a:r>
              <a:rPr sz="1100">
                <a:solidFill>
                  <a:srgbClr val="1A202C"/>
                </a:solidFill>
              </a:rPr>
              <a:t>    300g Chromo: 68.– | Selbstklebefolie: 95.–</a:t>
            </a:r>
          </a:p>
          <a:p>
            <a:r>
              <a:rPr sz="1100">
                <a:solidFill>
                  <a:srgbClr val="1A202C"/>
                </a:solidFill>
              </a:rPr>
              <a:t>3.  Druckkosten: 55.– Rüst + Bogenrate × Seitenfaktor</a:t>
            </a:r>
          </a:p>
          <a:p>
            <a:r>
              <a:rPr sz="1100">
                <a:solidFill>
                  <a:srgbClr val="1A202C"/>
                </a:solidFill>
              </a:rPr>
              <a:t>4.  Veredelung: Cello 0.065 | Softtouch 0.095 /Bogen</a:t>
            </a:r>
          </a:p>
          <a:p>
            <a:r>
              <a:rPr sz="1100">
                <a:solidFill>
                  <a:srgbClr val="1A202C"/>
                </a:solidFill>
              </a:rPr>
              <a:t>5.  Layout: 95.– / 185.– / 290.– (nur ohne Druckdaten)</a:t>
            </a:r>
          </a:p>
          <a:p>
            <a:r>
              <a:rPr sz="1100">
                <a:solidFill>
                  <a:srgbClr val="1A202C"/>
                </a:solidFill>
              </a:rPr>
              <a:t>6.  Expresszuschlag: knapp +18% | nicht real. +28%</a:t>
            </a:r>
          </a:p>
          <a:p>
            <a:r>
              <a:rPr sz="1100">
                <a:solidFill>
                  <a:srgbClr val="1A202C"/>
                </a:solidFill>
              </a:rPr>
              <a:t>7.  VP netto = Selbstkosten × 1.7241</a:t>
            </a:r>
          </a:p>
          <a:p>
            <a:r>
              <a:rPr sz="1100">
                <a:solidFill>
                  <a:srgbClr val="1A202C"/>
                </a:solidFill>
              </a:rPr>
              <a:t>    → aufrunden auf nächste CHF 5.– | min. CHF 95.–</a:t>
            </a:r>
          </a:p>
          <a:p>
            <a:r>
              <a:rPr sz="1100">
                <a:solidFill>
                  <a:srgbClr val="1A202C"/>
                </a:solidFill>
              </a:rPr>
              <a:t>8.  MwSt. 8.1% | VP brutto = netto + MwSt.</a:t>
            </a:r>
          </a:p>
          <a:p>
            <a:r>
              <a:rPr sz="1100">
                <a:solidFill>
                  <a:srgbClr val="1A202C"/>
                </a:solidFill>
              </a:rPr>
              <a:t/>
            </a:r>
          </a:p>
          <a:p>
            <a:r>
              <a:rPr sz="1100">
                <a:solidFill>
                  <a:srgbClr val="1A202C"/>
                </a:solidFill>
              </a:rPr>
              <a:t>WICHTIG: Preis = Gesamtpreis ALLER Stück – nicht Stückpreis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26480" y="1234440"/>
            <a:ext cx="5394960" cy="5349240"/>
          </a:xfrm>
          <a:prstGeom prst="rect">
            <a:avLst/>
          </a:prstGeom>
          <a:solidFill>
            <a:srgbClr val="EAF7EE"/>
          </a:solidFill>
          <a:ln w="15240">
            <a:solidFill>
              <a:srgbClr val="38A1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26480" y="1234440"/>
            <a:ext cx="5394960" cy="384048"/>
          </a:xfrm>
          <a:prstGeom prst="rect">
            <a:avLst/>
          </a:prstGeom>
          <a:solidFill>
            <a:srgbClr val="38A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63640" y="1280160"/>
            <a:ext cx="5120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Angebotsstruktur (Google Docs)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3640" y="1719072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1A202C"/>
                </a:solidFill>
              </a:rPr>
              <a:t>1.  Briefkopf (Schellenberg Druck AG, linksbündig)</a:t>
            </a:r>
          </a:p>
          <a:p>
            <a:r>
              <a:rPr sz="1100">
                <a:solidFill>
                  <a:srgbClr val="1A202C"/>
                </a:solidFill>
              </a:rPr>
              <a:t>2.  Empfänger (rechtsbündig)</a:t>
            </a:r>
          </a:p>
          <a:p>
            <a:r>
              <a:rPr sz="1100">
                <a:solidFill>
                  <a:srgbClr val="1A202C"/>
                </a:solidFill>
              </a:rPr>
              <a:t>3.  Angebotsnummer + Datum + Gültig bis (30 Tage)</a:t>
            </a:r>
          </a:p>
          <a:p>
            <a:r>
              <a:rPr sz="1100">
                <a:solidFill>
                  <a:srgbClr val="1A202C"/>
                </a:solidFill>
              </a:rPr>
              <a:t>4.  Betreff (fett)</a:t>
            </a:r>
          </a:p>
          <a:p>
            <a:r>
              <a:rPr sz="1100">
                <a:solidFill>
                  <a:srgbClr val="1A202C"/>
                </a:solidFill>
              </a:rPr>
              <a:t>5.  Leistungsbeschreibung pro Position:</a:t>
            </a:r>
          </a:p>
          <a:p>
            <a:r>
              <a:rPr sz="1100">
                <a:solidFill>
                  <a:srgbClr val="1A202C"/>
                </a:solidFill>
              </a:rPr>
              <a:t>    → Produkt, Format, Farbigkeit, Material</a:t>
            </a:r>
          </a:p>
          <a:p>
            <a:r>
              <a:rPr sz="1100">
                <a:solidFill>
                  <a:srgbClr val="1A202C"/>
                </a:solidFill>
              </a:rPr>
              <a:t>    → Auflage, Veredelung, Druckdaten</a:t>
            </a:r>
          </a:p>
          <a:p>
            <a:r>
              <a:rPr sz="1100">
                <a:solidFill>
                  <a:srgbClr val="1A202C"/>
                </a:solidFill>
              </a:rPr>
              <a:t>    → Kosten: CHF X.- (fett, gerundet)</a:t>
            </a:r>
          </a:p>
          <a:p>
            <a:r>
              <a:rPr sz="1100">
                <a:solidFill>
                  <a:srgbClr val="1A202C"/>
                </a:solidFill>
              </a:rPr>
              <a:t>6.  Kostenaufstellung Pos. 1–X</a:t>
            </a:r>
          </a:p>
          <a:p>
            <a:r>
              <a:rPr sz="1100">
                <a:solidFill>
                  <a:srgbClr val="1A202C"/>
                </a:solidFill>
              </a:rPr>
              <a:t>    Nettobetrag / MwSt. 8.1% / Gesamtbetrag (fett)</a:t>
            </a:r>
          </a:p>
          <a:p>
            <a:r>
              <a:rPr sz="1100">
                <a:solidFill>
                  <a:srgbClr val="1A202C"/>
                </a:solidFill>
              </a:rPr>
              <a:t>7.  Lieferbedingungen</a:t>
            </a:r>
          </a:p>
          <a:p>
            <a:r>
              <a:rPr sz="1100">
                <a:solidFill>
                  <a:srgbClr val="1A202C"/>
                </a:solidFill>
              </a:rPr>
              <a:t>8.  Zahlungsbedingungen (30 Tage / 50% Anzahlung)</a:t>
            </a:r>
          </a:p>
          <a:p>
            <a:r>
              <a:rPr sz="1100">
                <a:solidFill>
                  <a:srgbClr val="1A202C"/>
                </a:solidFill>
              </a:rPr>
              <a:t>9.  Druckdaten-Status</a:t>
            </a:r>
          </a:p>
          <a:p>
            <a:r>
              <a:rPr sz="1100">
                <a:solidFill>
                  <a:srgbClr val="1A202C"/>
                </a:solidFill>
              </a:rPr>
              <a:t>10. Rechtliche Hinweise (Fliesstext, CH-Gerichtsstand)</a:t>
            </a:r>
          </a:p>
          <a:p>
            <a:r>
              <a:rPr sz="1100">
                <a:solidFill>
                  <a:srgbClr val="1A202C"/>
                </a:solidFill>
              </a:rPr>
              <a:t>11. Unterschrift Edgar Glinz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096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73152"/>
            <a:ext cx="822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91440"/>
            <a:ext cx="7315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CONTROL – Kontrolle &amp; Robustheit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621792"/>
            <a:ext cx="9144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DEEFF"/>
                </a:solidFill>
              </a:rPr>
              <a:t>Wie halten wir die Verbesserung stabil?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0" y="91440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</a:rPr>
              <a:t>Schellenberg Druck AG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34440"/>
            <a:ext cx="5577840" cy="2514600"/>
          </a:xfrm>
          <a:prstGeom prst="rect">
            <a:avLst/>
          </a:prstGeom>
          <a:solidFill>
            <a:srgbClr val="E0F7FA"/>
          </a:solidFill>
          <a:ln w="15240">
            <a:solidFill>
              <a:srgbClr val="0096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234440"/>
            <a:ext cx="5577840" cy="384048"/>
          </a:xfrm>
          <a:prstGeom prst="rect">
            <a:avLst/>
          </a:prstGeom>
          <a:solidFill>
            <a:srgbClr val="0096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271016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Human in the Loop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691640"/>
            <a:ext cx="530352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1A202C"/>
                </a:solidFill>
              </a:rPr>
              <a:t>Edgar prüft jedes Angebot vor Versand</a:t>
            </a:r>
          </a:p>
          <a:p>
            <a:r>
              <a:rPr sz="1200">
                <a:solidFill>
                  <a:srgbClr val="1A202C"/>
                </a:solidFill>
              </a:rPr>
              <a:t>Wait-Node pausiert Workflow bis Klick</a:t>
            </a:r>
          </a:p>
          <a:p>
            <a:r>
              <a:rPr sz="1200">
                <a:solidFill>
                  <a:srgbClr val="1A202C"/>
                </a:solidFill>
              </a:rPr>
              <a:t>Approve-Link: ?approved=true</a:t>
            </a:r>
          </a:p>
          <a:p>
            <a:r>
              <a:rPr sz="1200">
                <a:solidFill>
                  <a:srgbClr val="1A202C"/>
                </a:solidFill>
              </a:rPr>
              <a:t>Reject-Link: ?approved=false</a:t>
            </a:r>
          </a:p>
          <a:p>
            <a:r>
              <a:rPr sz="1200">
                <a:solidFill>
                  <a:srgbClr val="1A202C"/>
                </a:solidFill>
              </a:rPr>
              <a:t>Timeout: 72h → Reminder → 48h → Archiv</a:t>
            </a:r>
          </a:p>
          <a:p>
            <a:r>
              <a:rPr sz="1200">
                <a:solidFill>
                  <a:srgbClr val="1A202C"/>
                </a:solidFill>
              </a:rPr>
              <a:t>Execution-ID = Sicherheitstoken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234440"/>
            <a:ext cx="5577840" cy="2514600"/>
          </a:xfrm>
          <a:prstGeom prst="rect">
            <a:avLst/>
          </a:prstGeom>
          <a:solidFill>
            <a:srgbClr val="E0F7FA"/>
          </a:solidFill>
          <a:ln w="15240">
            <a:solidFill>
              <a:srgbClr val="0096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7920" y="1234440"/>
            <a:ext cx="5577840" cy="384048"/>
          </a:xfrm>
          <a:prstGeom prst="rect">
            <a:avLst/>
          </a:prstGeom>
          <a:solidFill>
            <a:srgbClr val="0096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55080" y="1271016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3-Ebenen Fehlerbehandlung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1691640"/>
            <a:ext cx="530352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1A202C"/>
                </a:solidFill>
              </a:rPr>
              <a:t>Ebene 1: Continue on Fail pro Node</a:t>
            </a:r>
          </a:p>
          <a:p>
            <a:r>
              <a:rPr sz="1200">
                <a:solidFill>
                  <a:srgbClr val="1A202C"/>
                </a:solidFill>
              </a:rPr>
              <a:t>         JSON-Validierung nach AI-Steps</a:t>
            </a:r>
          </a:p>
          <a:p>
            <a:r>
              <a:rPr sz="1200">
                <a:solidFill>
                  <a:srgbClr val="1A202C"/>
                </a:solidFill>
              </a:rPr>
              <a:t>         Retry bis 3× bei API-Fehlern</a:t>
            </a:r>
          </a:p>
          <a:p>
            <a:r>
              <a:rPr sz="1200">
                <a:solidFill>
                  <a:srgbClr val="1A202C"/>
                </a:solidFill>
              </a:rPr>
              <a:t>Ebene 2: Wait-Node Timeout-Logik</a:t>
            </a:r>
          </a:p>
          <a:p>
            <a:r>
              <a:rPr sz="1200">
                <a:solidFill>
                  <a:srgbClr val="1A202C"/>
                </a:solidFill>
              </a:rPr>
              <a:t>Ebene 3: Globaler Error-Workflow</a:t>
            </a:r>
          </a:p>
          <a:p>
            <a:r>
              <a:rPr sz="1200">
                <a:solidFill>
                  <a:srgbClr val="1A202C"/>
                </a:solidFill>
              </a:rPr>
              <a:t>         Mail an Edgar bei Absturz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931920"/>
            <a:ext cx="5577840" cy="2514600"/>
          </a:xfrm>
          <a:prstGeom prst="rect">
            <a:avLst/>
          </a:prstGeom>
          <a:solidFill>
            <a:srgbClr val="E0F7FA"/>
          </a:solidFill>
          <a:ln w="15240">
            <a:solidFill>
              <a:srgbClr val="0096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3931920"/>
            <a:ext cx="5577840" cy="384048"/>
          </a:xfrm>
          <a:prstGeom prst="rect">
            <a:avLst/>
          </a:prstGeom>
          <a:solidFill>
            <a:srgbClr val="0096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3968496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Audit-Trail &amp; Archivierung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4389120"/>
            <a:ext cx="530352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1A202C"/>
                </a:solidFill>
              </a:rPr>
              <a:t>Google Docs: jede Offerte archiviert</a:t>
            </a:r>
          </a:p>
          <a:p>
            <a:r>
              <a:rPr sz="1200">
                <a:solidFill>
                  <a:srgbClr val="1A202C"/>
                </a:solidFill>
              </a:rPr>
              <a:t>Auftrags-Nr. DR-YYYY-MMDDHHNN</a:t>
            </a:r>
          </a:p>
          <a:p>
            <a:r>
              <a:rPr sz="1200">
                <a:solidFill>
                  <a:srgbClr val="1A202C"/>
                </a:solidFill>
              </a:rPr>
              <a:t>Google Sheets: Auftragsdatenbank (geplant)</a:t>
            </a:r>
          </a:p>
          <a:p>
            <a:r>
              <a:rPr sz="1200">
                <a:solidFill>
                  <a:srgbClr val="1A202C"/>
                </a:solidFill>
              </a:rPr>
              <a:t>Schweizer Recht: 10 Jahre Aufbewahrung</a:t>
            </a:r>
          </a:p>
          <a:p>
            <a:r>
              <a:rPr sz="1200">
                <a:solidFill>
                  <a:srgbClr val="1A202C"/>
                </a:solidFill>
              </a:rPr>
              <a:t>Interne Benachrichtigung bei Abschluss</a:t>
            </a:r>
          </a:p>
          <a:p>
            <a:r>
              <a:rPr sz="1200">
                <a:solidFill>
                  <a:srgbClr val="1A202C"/>
                </a:solidFill>
              </a:rPr>
              <a:t>Execution-Log in n8n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17920" y="3931920"/>
            <a:ext cx="5577840" cy="2514600"/>
          </a:xfrm>
          <a:prstGeom prst="rect">
            <a:avLst/>
          </a:prstGeom>
          <a:solidFill>
            <a:srgbClr val="E0F7FA"/>
          </a:solidFill>
          <a:ln w="15240">
            <a:solidFill>
              <a:srgbClr val="0096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17920" y="3931920"/>
            <a:ext cx="5577840" cy="384048"/>
          </a:xfrm>
          <a:prstGeom prst="rect">
            <a:avLst/>
          </a:prstGeom>
          <a:solidFill>
            <a:srgbClr val="0096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55080" y="3968496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Qualitätssicherung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5080" y="4389120"/>
            <a:ext cx="530352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1A202C"/>
                </a:solidFill>
              </a:rPr>
              <a:t>AI gibt nur valides JSON aus (Schema)</a:t>
            </a:r>
          </a:p>
          <a:p>
            <a:r>
              <a:rPr sz="1200">
                <a:solidFill>
                  <a:srgbClr val="1A202C"/>
                </a:solidFill>
              </a:rPr>
              <a:t>Pflichtfelder erzwungen (niemals leer)</a:t>
            </a:r>
          </a:p>
          <a:p>
            <a:r>
              <a:rPr sz="1200">
                <a:solidFill>
                  <a:srgbClr val="1A202C"/>
                </a:solidFill>
              </a:rPr>
              <a:t>Terminprüfung: realistisch/knapp/unmögl.</a:t>
            </a:r>
          </a:p>
          <a:p>
            <a:r>
              <a:rPr sz="1200">
                <a:solidFill>
                  <a:srgbClr val="1A202C"/>
                </a:solidFill>
              </a:rPr>
              <a:t>Mehrprodukt-Aufträge: Pos. 1–5 geprüft</a:t>
            </a:r>
          </a:p>
          <a:p>
            <a:r>
              <a:rPr sz="1200">
                <a:solidFill>
                  <a:srgbClr val="1A202C"/>
                </a:solidFill>
              </a:rPr>
              <a:t>Kein Ermessensspielraum in Kalkulation</a:t>
            </a:r>
          </a:p>
          <a:p>
            <a:r>
              <a:rPr sz="1200">
                <a:solidFill>
                  <a:srgbClr val="1A202C"/>
                </a:solidFill>
              </a:rPr>
              <a:t>Regelmässige Prompt-Reviews geplant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E85D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202C"/>
                </a:solidFill>
              </a:rPr>
              <a:t>Herausforderungen &amp; Lösungen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0467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A5568"/>
                </a:solidFill>
              </a:rPr>
              <a:t>Lessons Learned aus Phase 1 (Zapier) und Phase 2 (n8n)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25880"/>
            <a:ext cx="5577840" cy="1600200"/>
          </a:xfrm>
          <a:prstGeom prst="rect">
            <a:avLst/>
          </a:prstGeom>
          <a:solidFill>
            <a:srgbClr val="EDF2F7"/>
          </a:solidFill>
          <a:ln w="15240">
            <a:solidFill>
              <a:srgbClr val="CBD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399032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02C"/>
                </a:solidFill>
              </a:rPr>
              <a:t>Stückpreis statt Gesamtpreis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801368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03030"/>
                </a:solidFill>
              </a:rPr>
              <a:t>✗  AI dividierte VP durch Auflage → Stückpreis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221991"/>
            <a:ext cx="5303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87248"/>
                </a:solidFill>
              </a:rPr>
              <a:t>✓  WICHTIG-Hinweis im Prompt: 'Gesamtpreis ALLER Stück'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325880"/>
            <a:ext cx="5577840" cy="1600200"/>
          </a:xfrm>
          <a:prstGeom prst="rect">
            <a:avLst/>
          </a:prstGeom>
          <a:solidFill>
            <a:srgbClr val="EDF2F7"/>
          </a:solidFill>
          <a:ln w="15240">
            <a:solidFill>
              <a:srgbClr val="CBD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80" y="1399032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02C"/>
                </a:solidFill>
              </a:rPr>
              <a:t>Thread blind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5080" y="1801368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03030"/>
                </a:solidFill>
              </a:rPr>
              <a:t>✗  AI las nur neueste E-Mail, ignorierte Kontext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221991"/>
            <a:ext cx="5303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87248"/>
                </a:solidFill>
              </a:rPr>
              <a:t>✓  Explizites Thread-Reading + Kurzantwort-Logik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108960"/>
            <a:ext cx="5577840" cy="1600200"/>
          </a:xfrm>
          <a:prstGeom prst="rect">
            <a:avLst/>
          </a:prstGeom>
          <a:solidFill>
            <a:srgbClr val="EDF2F7"/>
          </a:solidFill>
          <a:ln w="15240">
            <a:solidFill>
              <a:srgbClr val="CBD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3182112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02C"/>
                </a:solidFill>
              </a:rPr>
              <a:t>Zapier Chip-Fehler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3584448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03030"/>
                </a:solidFill>
              </a:rPr>
              <a:t>✗  {{...}} als Plaintext getippt → kein Wert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005072"/>
            <a:ext cx="5303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87248"/>
                </a:solidFill>
              </a:rPr>
              <a:t>✓  Chip-Picker verwenden, nie manuell tippen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7920" y="3108960"/>
            <a:ext cx="5577840" cy="1600200"/>
          </a:xfrm>
          <a:prstGeom prst="rect">
            <a:avLst/>
          </a:prstGeom>
          <a:solidFill>
            <a:srgbClr val="EDF2F7"/>
          </a:solidFill>
          <a:ln w="15240">
            <a:solidFill>
              <a:srgbClr val="CBD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55080" y="3182112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02C"/>
                </a:solidFill>
              </a:rPr>
              <a:t>Flaches JSON (Zapier)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5080" y="3584448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03030"/>
                </a:solidFill>
              </a:rPr>
              <a:t>✗  JSON-Arrays nicht mappbar in Zapier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5080" y="4005072"/>
            <a:ext cx="5303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87248"/>
                </a:solidFill>
              </a:rPr>
              <a:t>✓  n8n: Arrays nativ – kein produkt_1...5 Hack nötig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92040"/>
            <a:ext cx="5577840" cy="1600200"/>
          </a:xfrm>
          <a:prstGeom prst="rect">
            <a:avLst/>
          </a:prstGeom>
          <a:solidFill>
            <a:srgbClr val="EDF2F7"/>
          </a:solidFill>
          <a:ln w="15240">
            <a:solidFill>
              <a:srgbClr val="CBD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" y="4965192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02C"/>
                </a:solidFill>
              </a:rPr>
              <a:t>HitL immer 'abgelehnt'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5367527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03030"/>
                </a:solidFill>
              </a:rPr>
              <a:t>✗  Falsche Condition: Status statt Decision-Feld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5788152"/>
            <a:ext cx="5303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87248"/>
                </a:solidFill>
              </a:rPr>
              <a:t>✓  Field: 'Decision' / Values: approved / rejected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17920" y="4892040"/>
            <a:ext cx="5577840" cy="1600200"/>
          </a:xfrm>
          <a:prstGeom prst="rect">
            <a:avLst/>
          </a:prstGeom>
          <a:solidFill>
            <a:srgbClr val="EDF2F7"/>
          </a:solidFill>
          <a:ln w="15240">
            <a:solidFill>
              <a:srgbClr val="CBD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55080" y="4965192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02C"/>
                </a:solidFill>
              </a:rPr>
              <a:t>Formatierung fehlt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5080" y="5367527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03030"/>
                </a:solidFill>
              </a:rPr>
              <a:t>✗  Plain-Text: kein Fett, keine Ausrichtung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5080" y="5788152"/>
            <a:ext cx="5303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87248"/>
                </a:solidFill>
              </a:rPr>
              <a:t>✓  n8n + Google Docs: echte Formatierung möglich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E85D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202C"/>
                </a:solidFill>
              </a:rPr>
              <a:t>Ergebnisse &amp;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0467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A5568"/>
                </a:solidFill>
              </a:rPr>
              <a:t>Was erreicht wurde – was als nächstes kommt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61872"/>
            <a:ext cx="5394960" cy="5349240"/>
          </a:xfrm>
          <a:prstGeom prst="rect">
            <a:avLst/>
          </a:prstGeom>
          <a:solidFill>
            <a:srgbClr val="EAF7EE"/>
          </a:solidFill>
          <a:ln w="15240">
            <a:solidFill>
              <a:srgbClr val="38A1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5394960" cy="384048"/>
          </a:xfrm>
          <a:prstGeom prst="rect">
            <a:avLst/>
          </a:prstGeom>
          <a:solidFill>
            <a:srgbClr val="38A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07592"/>
            <a:ext cx="5120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Erreicht (Phase 1 &amp; 2)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8308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02C"/>
                </a:solidFill>
              </a:rPr>
              <a:t>✅  6 Eingangskanäle normalisiert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33172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02C"/>
                </a:solidFill>
              </a:rPr>
              <a:t>✅  Vollständigkeitsprüfung mit Schema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88036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02C"/>
                </a:solidFill>
              </a:rPr>
              <a:t>✅  Deterministisches Pricing (0% Spielraum)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342900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02C"/>
                </a:solidFill>
              </a:rPr>
              <a:t>✅  Offerte via Google Docs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3977639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02C"/>
                </a:solidFill>
              </a:rPr>
              <a:t>✅  HitL mit Wait-Node + Webhook-Links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452628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02C"/>
                </a:solidFill>
              </a:rPr>
              <a:t>✅  Auftragskontext-Speicher (Loop)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507492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02C"/>
                </a:solidFill>
              </a:rPr>
              <a:t>✅  Abschlussmail &amp; Interne Benachrichtigung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562356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02C"/>
                </a:solidFill>
              </a:rPr>
              <a:t>✅  DMAIC-Struktur dokumentiert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26480" y="1261872"/>
            <a:ext cx="5394960" cy="5349240"/>
          </a:xfrm>
          <a:prstGeom prst="rect">
            <a:avLst/>
          </a:prstGeom>
          <a:solidFill>
            <a:srgbClr val="E0F7FA"/>
          </a:solidFill>
          <a:ln w="15240">
            <a:solidFill>
              <a:srgbClr val="0096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26480" y="1261872"/>
            <a:ext cx="5394960" cy="384048"/>
          </a:xfrm>
          <a:prstGeom prst="rect">
            <a:avLst/>
          </a:prstGeom>
          <a:solidFill>
            <a:srgbClr val="0096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63640" y="1307592"/>
            <a:ext cx="5120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Roadmap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3640" y="1810512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85D04"/>
                </a:solidFill>
              </a:rPr>
              <a:t>⚡ Kurzfristig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63640" y="2194560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A5568"/>
                </a:solidFill>
              </a:rPr>
              <a:t>  →  Fehlerbehandlung (Error-Workflow)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2578608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A5568"/>
                </a:solidFill>
              </a:rPr>
              <a:t>  →  Druckdaten-Anhänge (Google Drive)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63640" y="2962656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A5568"/>
                </a:solidFill>
              </a:rPr>
              <a:t>  →  End-to-End-Test (Mail + Webhook)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3346703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C8800"/>
                </a:solidFill>
              </a:rPr>
              <a:t>📅 Mittelfristig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63640" y="3730752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A5568"/>
                </a:solidFill>
              </a:rPr>
              <a:t>  →  Rechnung / CH-Quittung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4114800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A5568"/>
                </a:solidFill>
              </a:rPr>
              <a:t>  →  Auftragsdatenbank (Sheets/Supabase)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4498848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A5568"/>
                </a:solidFill>
              </a:rPr>
              <a:t>  →  Twilio / WhatsApp / Telegram live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63640" y="4882896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8A169"/>
                </a:solidFill>
              </a:rPr>
              <a:t>🚀 Langfristig / Produktiv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63640" y="5266944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A5568"/>
                </a:solidFill>
              </a:rPr>
              <a:t>  →  Telefontranskription (Deepgram)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63640" y="5650992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A5568"/>
                </a:solidFill>
              </a:rPr>
              <a:t>  →  Kundenstatus-Portal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63640" y="6035040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A5568"/>
                </a:solidFill>
              </a:rPr>
              <a:t>  →  Produktivbetrieb Schellenberg AG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ED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7200" y="6656832"/>
            <a:ext cx="11430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A5568"/>
                </a:solidFill>
              </a:rPr>
              <a:t>Schellenberg Druck AG · Schützenhausstrasse 5 · 8330 Pfäffikon · schellenbergdruck.ch  |  Juni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