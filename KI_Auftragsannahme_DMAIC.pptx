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0"/>
            <a:ext cx="11731752" cy="73152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7280" y="5029200"/>
            <a:ext cx="1371600" cy="137160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5029200"/>
            <a:ext cx="1371600" cy="1371600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5029200"/>
            <a:ext cx="1371600" cy="137160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5029200"/>
            <a:ext cx="1371600" cy="13716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5029200"/>
            <a:ext cx="1371600" cy="1371600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5074920"/>
            <a:ext cx="1371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109728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1A202C"/>
                </a:solidFill>
              </a:rPr>
              <a:t>KI-gestützte Auftragsannahme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24028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85D04"/>
                </a:solidFill>
              </a:rPr>
              <a:t>Prozessoptimierung nach DMAIC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2926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A5568"/>
                </a:solidFill>
              </a:rPr>
              <a:t>Schellenberg Druck AG · Schützenhausstrasse 5 · 8330 Pfäffikon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5204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n8n · Claude AI · Gmail · Google Docs · Multi-Channel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4A5568"/>
                </a:solidFill>
              </a:rPr>
              <a:t>Juni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DMAIC Projektübersicht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KI-Auftragsannahme Schellenberg Druck AG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17320"/>
            <a:ext cx="2103120" cy="498348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2103120" cy="68580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DEFINE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Problem: Manuelle Auftragsannahme</a:t>
            </a:r>
          </a:p>
          <a:p>
            <a:r>
              <a:rPr sz="1200">
                <a:solidFill>
                  <a:srgbClr val="4A5568"/>
                </a:solidFill>
              </a:rPr>
              <a:t>Ziel: Vollautomatisierung</a:t>
            </a:r>
          </a:p>
          <a:p>
            <a:r>
              <a:rPr sz="1200">
                <a:solidFill>
                  <a:srgbClr val="4A5568"/>
                </a:solidFill>
              </a:rPr>
              <a:t>Scope: Alle Eingangskanäle</a:t>
            </a:r>
          </a:p>
          <a:p>
            <a:r>
              <a:rPr sz="1200">
                <a:solidFill>
                  <a:srgbClr val="4A5568"/>
                </a:solidFill>
              </a:rPr>
              <a:t>KPIs definiert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20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182CE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70048" y="1417320"/>
            <a:ext cx="2103120" cy="498348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70048" y="1417320"/>
            <a:ext cx="2103120" cy="685800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61488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5848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MEASURE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208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Ist-Zustand: 30–60 min/Auftrag</a:t>
            </a:r>
          </a:p>
          <a:p>
            <a:r>
              <a:rPr sz="1200">
                <a:solidFill>
                  <a:srgbClr val="4A5568"/>
                </a:solidFill>
              </a:rPr>
              <a:t>Fehlerquellen gemessen</a:t>
            </a:r>
          </a:p>
          <a:p>
            <a:r>
              <a:rPr sz="1200">
                <a:solidFill>
                  <a:srgbClr val="4A5568"/>
                </a:solidFill>
              </a:rPr>
              <a:t>Kanalvolumen analysiert</a:t>
            </a:r>
          </a:p>
          <a:p>
            <a:r>
              <a:rPr sz="1200">
                <a:solidFill>
                  <a:srgbClr val="4A5568"/>
                </a:solidFill>
              </a:rPr>
              <a:t>Baseline festgelegt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805AD5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82896" y="1417320"/>
            <a:ext cx="2103120" cy="498348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82896" y="1417320"/>
            <a:ext cx="2103120" cy="68580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74336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68696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ANALYZE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0056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Ursachen: fehlende Standards</a:t>
            </a:r>
          </a:p>
          <a:p>
            <a:r>
              <a:rPr sz="1200">
                <a:solidFill>
                  <a:srgbClr val="4A5568"/>
                </a:solidFill>
              </a:rPr>
              <a:t>Manuelle Kalkulation fehleranfällig</a:t>
            </a:r>
          </a:p>
          <a:p>
            <a:r>
              <a:rPr sz="1200">
                <a:solidFill>
                  <a:srgbClr val="4A5568"/>
                </a:solidFill>
              </a:rPr>
              <a:t>Thread-Kontext geht verloren</a:t>
            </a:r>
          </a:p>
          <a:p>
            <a:r>
              <a:rPr sz="1200">
                <a:solidFill>
                  <a:srgbClr val="4A5568"/>
                </a:solidFill>
              </a:rPr>
              <a:t>Mehrprodukt-Aufträge komplex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D6B20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95744" y="1417320"/>
            <a:ext cx="2103120" cy="498348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95744" y="1417320"/>
            <a:ext cx="2103120" cy="68580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87183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81544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IMPROVE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32904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n8n + Claude AI Workflow</a:t>
            </a:r>
          </a:p>
          <a:p>
            <a:r>
              <a:rPr sz="1200">
                <a:solidFill>
                  <a:srgbClr val="4A5568"/>
                </a:solidFill>
              </a:rPr>
              <a:t>6 Eingangskanäle normalisiert</a:t>
            </a:r>
          </a:p>
          <a:p>
            <a:r>
              <a:rPr sz="1200">
                <a:solidFill>
                  <a:srgbClr val="4A5568"/>
                </a:solidFill>
              </a:rPr>
              <a:t>Deterministisches Pricing</a:t>
            </a:r>
          </a:p>
          <a:p>
            <a:r>
              <a:rPr sz="1200">
                <a:solidFill>
                  <a:srgbClr val="4A5568"/>
                </a:solidFill>
              </a:rPr>
              <a:t>HitL mit Wait-Node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3" y="3337560"/>
            <a:ext cx="137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308592" y="1417320"/>
            <a:ext cx="2103120" cy="498348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08592" y="1417320"/>
            <a:ext cx="2103120" cy="685800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00032" y="1463040"/>
            <a:ext cx="640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4392" y="1536192"/>
            <a:ext cx="13258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CONTROL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45752" y="2240280"/>
            <a:ext cx="1828799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4A5568"/>
                </a:solidFill>
              </a:rPr>
              <a:t>3-Ebenen Fehlerbehandlung</a:t>
            </a:r>
          </a:p>
          <a:p>
            <a:r>
              <a:rPr sz="1200">
                <a:solidFill>
                  <a:srgbClr val="4A5568"/>
                </a:solidFill>
              </a:rPr>
              <a:t>Edgar prüft &amp; gibt frei</a:t>
            </a:r>
          </a:p>
          <a:p>
            <a:r>
              <a:rPr sz="1200">
                <a:solidFill>
                  <a:srgbClr val="4A5568"/>
                </a:solidFill>
              </a:rPr>
              <a:t>Audit-Trail via Google Docs</a:t>
            </a:r>
          </a:p>
          <a:p>
            <a:r>
              <a:rPr sz="1200">
                <a:solidFill>
                  <a:srgbClr val="4A5568"/>
                </a:solidFill>
              </a:rPr>
              <a:t>Monitoring &amp; Alerts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DEFINE – Problemdefinition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Was wollen wir lösen und warum?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394960" cy="25603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Ausgangsproblem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512064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Druckaufträge per E-Mail, Telefon, Web manuell erfasst</a:t>
            </a:r>
          </a:p>
          <a:p>
            <a:r>
              <a:rPr sz="1200">
                <a:solidFill>
                  <a:srgbClr val="1A202C"/>
                </a:solidFill>
              </a:rPr>
              <a:t>30–60 Minuten Bearbeitungszeit pro Auftrag</a:t>
            </a:r>
          </a:p>
          <a:p>
            <a:r>
              <a:rPr sz="1200">
                <a:solidFill>
                  <a:srgbClr val="1A202C"/>
                </a:solidFill>
              </a:rPr>
              <a:t>Preise von Hand kalkuliert – hohe Fehlerquote</a:t>
            </a:r>
          </a:p>
          <a:p>
            <a:r>
              <a:rPr sz="1200">
                <a:solidFill>
                  <a:srgbClr val="1A202C"/>
                </a:solidFill>
              </a:rPr>
              <a:t>Angebote ohne einheitliche Vorlage erstellt</a:t>
            </a:r>
          </a:p>
          <a:p>
            <a:r>
              <a:rPr sz="1200">
                <a:solidFill>
                  <a:srgbClr val="1A202C"/>
                </a:solidFill>
              </a:rPr>
              <a:t>Keine Skalierbarkeit bei steigendem Auftragsvolumen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34440"/>
            <a:ext cx="5394960" cy="25603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27101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Projektziel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120640" cy="2011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Vollautomatische Auftragsannahme über alle Kanäle</a:t>
            </a:r>
          </a:p>
          <a:p>
            <a:r>
              <a:rPr sz="1200">
                <a:solidFill>
                  <a:srgbClr val="1A202C"/>
                </a:solidFill>
              </a:rPr>
              <a:t>KI extrahiert Daten, prüft Vollständigkeit</a:t>
            </a:r>
          </a:p>
          <a:p>
            <a:r>
              <a:rPr sz="1200">
                <a:solidFill>
                  <a:srgbClr val="1A202C"/>
                </a:solidFill>
              </a:rPr>
              <a:t>Deterministische Preiskalkulation (keine Spielräume)</a:t>
            </a:r>
          </a:p>
          <a:p>
            <a:r>
              <a:rPr sz="1200">
                <a:solidFill>
                  <a:srgbClr val="1A202C"/>
                </a:solidFill>
              </a:rPr>
              <a:t>AI-generiertes, rechtssicheres Angebot (CH)</a:t>
            </a:r>
          </a:p>
          <a:p>
            <a:r>
              <a:rPr sz="1200">
                <a:solidFill>
                  <a:srgbClr val="1A202C"/>
                </a:solidFill>
              </a:rPr>
              <a:t>Mensch prüft nur noch → gibt frei oder lehnt ab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39"/>
            <a:ext cx="5394960" cy="260604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39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401421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Scope &amp; Stakeholder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43484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Scope: Alle eingehenden Druckaufträge</a:t>
            </a:r>
          </a:p>
          <a:p>
            <a:r>
              <a:rPr sz="1200">
                <a:solidFill>
                  <a:srgbClr val="1A202C"/>
                </a:solidFill>
              </a:rPr>
              <a:t>Kanäle: Mail, Web, WhatsApp, Telegram,</a:t>
            </a:r>
          </a:p>
          <a:p>
            <a:r>
              <a:rPr sz="1200">
                <a:solidFill>
                  <a:srgbClr val="1A202C"/>
                </a:solidFill>
              </a:rPr>
              <a:t>         Telefon, Kontaktformular</a:t>
            </a:r>
          </a:p>
          <a:p>
            <a:r>
              <a:rPr sz="1200">
                <a:solidFill>
                  <a:srgbClr val="1A202C"/>
                </a:solidFill>
              </a:rPr>
              <a:t>Stakeholder: Edgar Glinz (Entscheider)</a:t>
            </a:r>
          </a:p>
          <a:p>
            <a:r>
              <a:rPr sz="1200">
                <a:solidFill>
                  <a:srgbClr val="1A202C"/>
                </a:solidFill>
              </a:rPr>
              <a:t>             Kunden der Schellenberg AG</a:t>
            </a:r>
          </a:p>
          <a:p>
            <a:r>
              <a:rPr sz="1200">
                <a:solidFill>
                  <a:srgbClr val="1A202C"/>
                </a:solidFill>
              </a:rPr>
              <a:t>Ausgeschlossen: Produktion, Rechnungsstellung (Phase 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80" y="3977639"/>
            <a:ext cx="5394960" cy="260604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3977639"/>
            <a:ext cx="5394960" cy="384048"/>
          </a:xfrm>
          <a:prstGeom prst="rect">
            <a:avLst/>
          </a:prstGeom>
          <a:solidFill>
            <a:srgbClr val="3182C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01421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Erfolgskennzahlen (KPIs)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434840"/>
            <a:ext cx="5120640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Bearbeitungszeit: &lt; 5 Min. (von 30–60 Min.)</a:t>
            </a:r>
          </a:p>
          <a:p>
            <a:r>
              <a:rPr sz="1200">
                <a:solidFill>
                  <a:srgbClr val="1A202C"/>
                </a:solidFill>
              </a:rPr>
              <a:t>Kalkulationsfehlerrate: 0% (deterministische Logik)</a:t>
            </a:r>
          </a:p>
          <a:p>
            <a:r>
              <a:rPr sz="1200">
                <a:solidFill>
                  <a:srgbClr val="1A202C"/>
                </a:solidFill>
              </a:rPr>
              <a:t>Vollständige Aufträge ohne Rückfrage: &gt; 70%</a:t>
            </a:r>
          </a:p>
          <a:p>
            <a:r>
              <a:rPr sz="1200">
                <a:solidFill>
                  <a:srgbClr val="1A202C"/>
                </a:solidFill>
              </a:rPr>
              <a:t>Angebotserstellungszeit: &lt; 2 Min.</a:t>
            </a:r>
          </a:p>
          <a:p>
            <a:r>
              <a:rPr sz="1200">
                <a:solidFill>
                  <a:srgbClr val="1A202C"/>
                </a:solidFill>
              </a:rPr>
              <a:t>HitL-Freigabequote: Ziel &gt; 90% genehmigt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MEASURE – Ist-Zustand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Wo stehen wir heute? Was kostet der aktuelle Prozess?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566160" cy="534924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56616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Ist-Prozess (manuell)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329184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1.  E-Mail / Anruf eingehend</a:t>
            </a:r>
          </a:p>
          <a:p>
            <a:r>
              <a:rPr sz="1200">
                <a:solidFill>
                  <a:srgbClr val="1A202C"/>
                </a:solidFill>
              </a:rPr>
              <a:t>2.  Sachbearbeiter liest &amp; interpretiert</a:t>
            </a:r>
          </a:p>
          <a:p>
            <a:r>
              <a:rPr sz="1200">
                <a:solidFill>
                  <a:srgbClr val="1A202C"/>
                </a:solidFill>
              </a:rPr>
              <a:t>3.  Fehlende Angaben per Mail anfragen</a:t>
            </a:r>
          </a:p>
          <a:p>
            <a:r>
              <a:rPr sz="1200">
                <a:solidFill>
                  <a:srgbClr val="1A202C"/>
                </a:solidFill>
              </a:rPr>
              <a:t>4.  Warten auf Kundenantwort</a:t>
            </a:r>
          </a:p>
          <a:p>
            <a:r>
              <a:rPr sz="1200">
                <a:solidFill>
                  <a:srgbClr val="1A202C"/>
                </a:solidFill>
              </a:rPr>
              <a:t>5.  Preise in Excel kalkulieren</a:t>
            </a:r>
          </a:p>
          <a:p>
            <a:r>
              <a:rPr sz="1200">
                <a:solidFill>
                  <a:srgbClr val="1A202C"/>
                </a:solidFill>
              </a:rPr>
              <a:t>6.  Word-Vorlage ausfüllen</a:t>
            </a:r>
          </a:p>
          <a:p>
            <a:r>
              <a:rPr sz="1200">
                <a:solidFill>
                  <a:srgbClr val="1A202C"/>
                </a:solidFill>
              </a:rPr>
              <a:t>7.  PDF erstellen &amp; versenden</a:t>
            </a:r>
          </a:p>
          <a:p>
            <a:r>
              <a:rPr sz="1200">
                <a:solidFill>
                  <a:srgbClr val="1A202C"/>
                </a:solidFill>
              </a:rPr>
              <a:t>8.  Auf Freigabe/Rückfragen warten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⏱ Ø Zeitaufwand: 30–60 Min./Auftrag</a:t>
            </a:r>
          </a:p>
          <a:p>
            <a:r>
              <a:rPr sz="1200">
                <a:solidFill>
                  <a:srgbClr val="1A202C"/>
                </a:solidFill>
              </a:rPr>
              <a:t>⚠  Fehlerquellen: Schritt 2, 3, 5, 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34440"/>
            <a:ext cx="3566160" cy="246888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234440"/>
            <a:ext cx="356616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27101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Kanäle &amp; Volumen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691640"/>
            <a:ext cx="3291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E-Mail         ~60% der Anfragen</a:t>
            </a:r>
          </a:p>
          <a:p>
            <a:r>
              <a:rPr sz="1200">
                <a:solidFill>
                  <a:srgbClr val="1A202C"/>
                </a:solidFill>
              </a:rPr>
              <a:t>Telefon        ~25% der Anfragen</a:t>
            </a:r>
          </a:p>
          <a:p>
            <a:r>
              <a:rPr sz="1200">
                <a:solidFill>
                  <a:srgbClr val="1A202C"/>
                </a:solidFill>
              </a:rPr>
              <a:t>Web-Formular   ~10% der Anfragen</a:t>
            </a:r>
          </a:p>
          <a:p>
            <a:r>
              <a:rPr sz="1200">
                <a:solidFill>
                  <a:srgbClr val="1A202C"/>
                </a:solidFill>
              </a:rPr>
              <a:t>Andere         ~5% der Anfragen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Ziel: Alle Kanäle automatisiert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51960" y="3886200"/>
            <a:ext cx="3566160" cy="269748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51960" y="3886200"/>
            <a:ext cx="356616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20" y="3922776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Fehlerquellen-Analyse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343400"/>
            <a:ext cx="329184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Falsche Grammatur → Preisfehler</a:t>
            </a:r>
          </a:p>
          <a:p>
            <a:r>
              <a:rPr sz="1200">
                <a:solidFill>
                  <a:srgbClr val="1A202C"/>
                </a:solidFill>
              </a:rPr>
              <a:t>Thread-Kontext vergessen</a:t>
            </a:r>
          </a:p>
          <a:p>
            <a:r>
              <a:rPr sz="1200">
                <a:solidFill>
                  <a:srgbClr val="1A202C"/>
                </a:solidFill>
              </a:rPr>
              <a:t>Format-Tippfehler (A4 vs. DIN lang)</a:t>
            </a:r>
          </a:p>
          <a:p>
            <a:r>
              <a:rPr sz="1200">
                <a:solidFill>
                  <a:srgbClr val="1A202C"/>
                </a:solidFill>
              </a:rPr>
              <a:t>Mehrprodukt-Aufträge übersehen</a:t>
            </a:r>
          </a:p>
          <a:p>
            <a:r>
              <a:rPr sz="1200">
                <a:solidFill>
                  <a:srgbClr val="1A202C"/>
                </a:solidFill>
              </a:rPr>
              <a:t>Keine Fristenprüfung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46720" y="1234440"/>
            <a:ext cx="3931920" cy="5349240"/>
          </a:xfrm>
          <a:prstGeom prst="rect">
            <a:avLst/>
          </a:prstGeom>
          <a:solidFill>
            <a:srgbClr val="F3EEFD"/>
          </a:solidFill>
          <a:ln w="15240">
            <a:solidFill>
              <a:srgbClr val="805A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20" y="1234440"/>
            <a:ext cx="3931920" cy="384048"/>
          </a:xfrm>
          <a:prstGeom prst="rect">
            <a:avLst/>
          </a:prstGeom>
          <a:solidFill>
            <a:srgbClr val="805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83880" y="127101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Baseline Kennzahlen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80" y="1691640"/>
            <a:ext cx="365760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Bearbeitungszeit heute:</a:t>
            </a:r>
          </a:p>
          <a:p>
            <a:r>
              <a:rPr sz="1200">
                <a:solidFill>
                  <a:srgbClr val="1A202C"/>
                </a:solidFill>
              </a:rPr>
              <a:t>  → Einfacher Auftrag:    ~30 Min.</a:t>
            </a:r>
          </a:p>
          <a:p>
            <a:r>
              <a:rPr sz="1200">
                <a:solidFill>
                  <a:srgbClr val="1A202C"/>
                </a:solidFill>
              </a:rPr>
              <a:t>  → Komplexer Auftrag:    ~60 Min.</a:t>
            </a:r>
          </a:p>
          <a:p>
            <a:r>
              <a:rPr sz="1200">
                <a:solidFill>
                  <a:srgbClr val="1A202C"/>
                </a:solidFill>
              </a:rPr>
              <a:t>  → Mit Rückfragen:      ~2–3 Tage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Fehlerrate Kalkulation:   ~15–20%</a:t>
            </a:r>
          </a:p>
          <a:p>
            <a:r>
              <a:rPr sz="1200">
                <a:solidFill>
                  <a:srgbClr val="1A202C"/>
                </a:solidFill>
              </a:rPr>
              <a:t>(geschätzt, keine Messung)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Angebote pro Woche: variabel</a:t>
            </a:r>
          </a:p>
          <a:p>
            <a:r>
              <a:rPr sz="1200">
                <a:solidFill>
                  <a:srgbClr val="1A202C"/>
                </a:solidFill>
              </a:rPr>
              <a:t/>
            </a:r>
          </a:p>
          <a:p>
            <a:r>
              <a:rPr sz="1200">
                <a:solidFill>
                  <a:srgbClr val="1A202C"/>
                </a:solidFill>
              </a:rPr>
              <a:t>Ziel nach Verbesserung:</a:t>
            </a:r>
          </a:p>
          <a:p>
            <a:r>
              <a:rPr sz="1200">
                <a:solidFill>
                  <a:srgbClr val="1A202C"/>
                </a:solidFill>
              </a:rPr>
              <a:t>  → Bearbeitungszeit: &lt; 5 Min.</a:t>
            </a:r>
          </a:p>
          <a:p>
            <a:r>
              <a:rPr sz="1200">
                <a:solidFill>
                  <a:srgbClr val="1A202C"/>
                </a:solidFill>
              </a:rPr>
              <a:t>  → Fehlerrate Kalk.: 0%</a:t>
            </a:r>
          </a:p>
          <a:p>
            <a:r>
              <a:rPr sz="1200">
                <a:solidFill>
                  <a:srgbClr val="1A202C"/>
                </a:solidFill>
              </a:rPr>
              <a:t>  → Rückfragen: automatisch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ANALYZE – Ursachenanalyse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Warum ist der Prozess fehleranfällig und langsam?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57600" cy="32918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65760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Keine Standardisierung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Kunden liefern Infos in beliebigem Format</a:t>
            </a:r>
          </a:p>
          <a:p>
            <a:r>
              <a:rPr sz="1200">
                <a:solidFill>
                  <a:srgbClr val="1A202C"/>
                </a:solidFill>
              </a:rPr>
              <a:t>Kein einheitliches Bestellformular</a:t>
            </a:r>
          </a:p>
          <a:p>
            <a:r>
              <a:rPr sz="1200">
                <a:solidFill>
                  <a:srgbClr val="1A202C"/>
                </a:solidFill>
              </a:rPr>
              <a:t>Jeder Sachbearbeiter arbeitet anders</a:t>
            </a:r>
          </a:p>
          <a:p>
            <a:r>
              <a:rPr sz="1200">
                <a:solidFill>
                  <a:srgbClr val="1A202C"/>
                </a:solidFill>
              </a:rPr>
              <a:t>Keine Vollständigkeits-Checkliste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234440"/>
            <a:ext cx="3657600" cy="32918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234440"/>
            <a:ext cx="365760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71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Manuelle Kalkulation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691640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Preistabellen in Excel – fehleranfällig</a:t>
            </a:r>
          </a:p>
          <a:p>
            <a:r>
              <a:rPr sz="1200">
                <a:solidFill>
                  <a:srgbClr val="1A202C"/>
                </a:solidFill>
              </a:rPr>
              <a:t>Expresszuschläge oft vergessen</a:t>
            </a:r>
          </a:p>
          <a:p>
            <a:r>
              <a:rPr sz="1200">
                <a:solidFill>
                  <a:srgbClr val="1A202C"/>
                </a:solidFill>
              </a:rPr>
              <a:t>Marge nicht systematisch geprüft</a:t>
            </a:r>
          </a:p>
          <a:p>
            <a:r>
              <a:rPr sz="1200">
                <a:solidFill>
                  <a:srgbClr val="1A202C"/>
                </a:solidFill>
              </a:rPr>
              <a:t>Mehrprodukt-Summen falsch addiert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234440"/>
            <a:ext cx="3657600" cy="32918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60" y="1234440"/>
            <a:ext cx="365760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271016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Informationsverlust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1691640"/>
            <a:ext cx="33832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E-Mail-Thread wird nicht vollständig gelesen</a:t>
            </a:r>
          </a:p>
          <a:p>
            <a:r>
              <a:rPr sz="1200">
                <a:solidFill>
                  <a:srgbClr val="1A202C"/>
                </a:solidFill>
              </a:rPr>
              <a:t>Frühere Angaben gehen bei Rückfragen verloren</a:t>
            </a:r>
          </a:p>
          <a:p>
            <a:r>
              <a:rPr sz="1200">
                <a:solidFill>
                  <a:srgbClr val="1A202C"/>
                </a:solidFill>
              </a:rPr>
              <a:t>Kein zentrales Auftragssystem</a:t>
            </a:r>
          </a:p>
          <a:p>
            <a:r>
              <a:rPr sz="1200">
                <a:solidFill>
                  <a:srgbClr val="1A202C"/>
                </a:solidFill>
              </a:rPr>
              <a:t>Anhänge werden übersehen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709160"/>
            <a:ext cx="11247120" cy="1920240"/>
          </a:xfrm>
          <a:prstGeom prst="rect">
            <a:avLst/>
          </a:prstGeom>
          <a:solidFill>
            <a:srgbClr val="FFF0E6"/>
          </a:solidFill>
          <a:ln w="15240">
            <a:solidFill>
              <a:srgbClr val="DD6B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709160"/>
            <a:ext cx="11247120" cy="384048"/>
          </a:xfrm>
          <a:prstGeom prst="rect">
            <a:avLst/>
          </a:prstGeom>
          <a:solidFill>
            <a:srgbClr val="DD6B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754880"/>
            <a:ext cx="10515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Ableitung: Lösungsansatz für IMPROVE-Phase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Standardisierung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KI-Extraktion + JSON-Schema erzwingt Vollständigkeit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Kalkulation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Fixe Preistabellen im Prompt – kein Ermessensspielraum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Thread-Kontext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AI liest gesamten E-Mail-Verlauf, merkt sich Auftragsnummer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06839" y="51663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D6B20"/>
                </a:solidFill>
              </a:rPr>
              <a:t>Multi-Kanal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06839" y="553212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6 Kanäle werden normalisiert auf identisches JSON-Format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IMPROVE – Lösung: n8n KI-Workflow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Von der Idee zur automatisierten Auftragsannahme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Multi-Channel
Input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6 Kanäle
normalisiert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95728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395728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95728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Vollständig-
keitsprüfung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87168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Claude AI
+ Schema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7368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42816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42816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42816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34255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Preis-
kalkulation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34255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Deterministisch
Fixpreise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34456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89904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89904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89904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81344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Offerte
generieren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1344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Google Docs
CH-konform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81544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936992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936992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936992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28431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HitL
Freigabe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Wait-Node
Edgar entsch.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28632" y="2194560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38A169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784080" y="1234440"/>
            <a:ext cx="1691640" cy="228600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1234440"/>
            <a:ext cx="169164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1298448"/>
            <a:ext cx="1691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FFFFF"/>
                </a:solidFill>
              </a:rPr>
              <a:t>✉️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75519" y="1737360"/>
            <a:ext cx="15087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202C"/>
                </a:solidFill>
              </a:rPr>
              <a:t>Versand
Kunde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19" y="2423160"/>
            <a:ext cx="1508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4A5568"/>
                </a:solidFill>
              </a:rPr>
              <a:t>Angebot oder
Nachfrage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703320"/>
            <a:ext cx="5394960" cy="288036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70332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37398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Technologie-Stack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" y="4160520"/>
            <a:ext cx="5120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Automation:     n8n (self-hosted / cloud)</a:t>
            </a:r>
          </a:p>
          <a:p>
            <a:r>
              <a:rPr sz="1200">
                <a:solidFill>
                  <a:srgbClr val="1A202C"/>
                </a:solidFill>
              </a:rPr>
              <a:t>AI-Modell:      Claude (Anthropic)</a:t>
            </a:r>
          </a:p>
          <a:p>
            <a:r>
              <a:rPr sz="1200">
                <a:solidFill>
                  <a:srgbClr val="1A202C"/>
                </a:solidFill>
              </a:rPr>
              <a:t>E-Mail:         Gmail (G-Suite)</a:t>
            </a:r>
          </a:p>
          <a:p>
            <a:r>
              <a:rPr sz="1200">
                <a:solidFill>
                  <a:srgbClr val="1A202C"/>
                </a:solidFill>
              </a:rPr>
              <a:t>Dokumente:      Google Docs</a:t>
            </a:r>
          </a:p>
          <a:p>
            <a:r>
              <a:rPr sz="1200">
                <a:solidFill>
                  <a:srgbClr val="1A202C"/>
                </a:solidFill>
              </a:rPr>
              <a:t>Kanäle:         Twilio, WhatsApp, Telegram</a:t>
            </a:r>
          </a:p>
          <a:p>
            <a:r>
              <a:rPr sz="1200">
                <a:solidFill>
                  <a:srgbClr val="1A202C"/>
                </a:solidFill>
              </a:rPr>
              <a:t>Speicher:       n8n Store / Google Sheets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26480" y="3703320"/>
            <a:ext cx="5394960" cy="288036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126480" y="370332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63640" y="3739896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Schlüsselentscheide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63640" y="4160520"/>
            <a:ext cx="5120640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JSON-Schema erzwingt strukturierten Output</a:t>
            </a:r>
          </a:p>
          <a:p>
            <a:r>
              <a:rPr sz="1200">
                <a:solidFill>
                  <a:srgbClr val="1A202C"/>
                </a:solidFill>
              </a:rPr>
              <a:t>Flat Fields (produkt_1...5) für Kanal-Kompatibilität</a:t>
            </a:r>
          </a:p>
          <a:p>
            <a:r>
              <a:rPr sz="1200">
                <a:solidFill>
                  <a:srgbClr val="1A202C"/>
                </a:solidFill>
              </a:rPr>
              <a:t>Determin. Kalkulation: kein AI-Spielraum</a:t>
            </a:r>
          </a:p>
          <a:p>
            <a:r>
              <a:rPr sz="1200">
                <a:solidFill>
                  <a:srgbClr val="1A202C"/>
                </a:solidFill>
              </a:rPr>
              <a:t>Google Docs statt Plain-Text für Formatierung</a:t>
            </a:r>
          </a:p>
          <a:p>
            <a:r>
              <a:rPr sz="1200">
                <a:solidFill>
                  <a:srgbClr val="1A202C"/>
                </a:solidFill>
              </a:rPr>
              <a:t>Wait-Node statt Zapier HitL (mehr Kontrolle)</a:t>
            </a:r>
          </a:p>
          <a:p>
            <a:r>
              <a:rPr sz="1200">
                <a:solidFill>
                  <a:srgbClr val="1A202C"/>
                </a:solidFill>
              </a:rPr>
              <a:t>Auftragsnr. DR-YYYY-MMDDHHNN als Loop-Anker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IMPROVE – Multi-Channel &amp; KI-Analyse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Alle Kanäle – eine normalisierte Datenbasis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2801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📧 Gmail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12801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✅ Aktiv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69164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E-Mail-Thread
abrufen &amp; zusammenfassen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69164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Thread-ID
als Loop-Anker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23444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123444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2801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🌐 Webformular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2801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✅ Aktiv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169164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Strukturierter
Webhook-Input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Einmalig,
kein Loop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3444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0" y="123444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39327" y="12801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📞 Telefon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27080" y="128016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⏳ Phase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9327" y="169164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Twilio → Deepgram
Transkription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169164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Aufnahme-URL
→ Text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342900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42900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474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💬 WhatsApp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54680" y="3474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⏳ Credentials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88620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Business API
+ Kontext-Speicher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88620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Chat-ID
→ Auftragsnr.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342900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43400" y="342900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53128" y="3474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📋 Formular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3474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✅ Aktiv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53128" y="388620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n8n-Native Form
strukturiert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88620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Einmalig,
kein Loop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0" y="3429000"/>
            <a:ext cx="3657600" cy="1920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229600" y="3429000"/>
            <a:ext cx="3657600" cy="3657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39327" y="34747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✈️ Telegram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27080" y="3474720"/>
            <a:ext cx="914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FFFFFF"/>
                </a:solidFill>
              </a:rPr>
              <a:t>⏳ Credentials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7" y="3886200"/>
            <a:ext cx="178308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Bot-Trigger
+ Kontext-Speicher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49840" y="3886200"/>
            <a:ext cx="16459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A5568"/>
                </a:solidFill>
              </a:rPr>
              <a:t>Chat-ID
→ Auftragsnr.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806440"/>
            <a:ext cx="11247120" cy="777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5943600"/>
            <a:ext cx="10789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A169"/>
                </a:solidFill>
              </a:rPr>
              <a:t>→  Alle Kanäle → 'Quellen zusammenführen' → Normalisierter JSON → Claude Vollständigkeitsprüfung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IMPROVE – Kalkulation &amp; Offerte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Deterministischer Preis · Rechtssicheres Dokument · Google Docs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394960" cy="5349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801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Preiskalkulation (Claude AI – Fixregeln)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719072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202C"/>
                </a:solidFill>
              </a:rPr>
              <a:t>1.  Gesamtbogen = CEIL((Auflage × 1.08) / 50) × 50</a:t>
            </a:r>
          </a:p>
          <a:p>
            <a:r>
              <a:rPr sz="1100">
                <a:solidFill>
                  <a:srgbClr val="1A202C"/>
                </a:solidFill>
              </a:rPr>
              <a:t>2.  Papierkosten aus Fixpreistabelle (CHF/1000 Bogen)</a:t>
            </a:r>
          </a:p>
          <a:p>
            <a:r>
              <a:rPr sz="1100">
                <a:solidFill>
                  <a:srgbClr val="1A202C"/>
                </a:solidFill>
              </a:rPr>
              <a:t>    90g Offset: 18.– | 170g glänzend: 41.–</a:t>
            </a:r>
          </a:p>
          <a:p>
            <a:r>
              <a:rPr sz="1100">
                <a:solidFill>
                  <a:srgbClr val="1A202C"/>
                </a:solidFill>
              </a:rPr>
              <a:t>    300g Chromo: 68.– | Selbstklebefolie: 95.–</a:t>
            </a:r>
          </a:p>
          <a:p>
            <a:r>
              <a:rPr sz="1100">
                <a:solidFill>
                  <a:srgbClr val="1A202C"/>
                </a:solidFill>
              </a:rPr>
              <a:t>3.  Druckkosten: 55.– Rüst + Bogenrate × Seitenfaktor</a:t>
            </a:r>
          </a:p>
          <a:p>
            <a:r>
              <a:rPr sz="1100">
                <a:solidFill>
                  <a:srgbClr val="1A202C"/>
                </a:solidFill>
              </a:rPr>
              <a:t>4.  Veredelung: Cello 0.065 | Softtouch 0.095 /Bogen</a:t>
            </a:r>
          </a:p>
          <a:p>
            <a:r>
              <a:rPr sz="1100">
                <a:solidFill>
                  <a:srgbClr val="1A202C"/>
                </a:solidFill>
              </a:rPr>
              <a:t>5.  Layout: 95.– / 185.– / 290.– (nur ohne Druckdaten)</a:t>
            </a:r>
          </a:p>
          <a:p>
            <a:r>
              <a:rPr sz="1100">
                <a:solidFill>
                  <a:srgbClr val="1A202C"/>
                </a:solidFill>
              </a:rPr>
              <a:t>6.  Expresszuschlag: knapp +18% | nicht real. +28%</a:t>
            </a:r>
          </a:p>
          <a:p>
            <a:r>
              <a:rPr sz="1100">
                <a:solidFill>
                  <a:srgbClr val="1A202C"/>
                </a:solidFill>
              </a:rPr>
              <a:t>7.  VP netto = Selbstkosten × 1.7241</a:t>
            </a:r>
          </a:p>
          <a:p>
            <a:r>
              <a:rPr sz="1100">
                <a:solidFill>
                  <a:srgbClr val="1A202C"/>
                </a:solidFill>
              </a:rPr>
              <a:t>    → aufrunden auf nächste CHF 5.– | min. CHF 95.–</a:t>
            </a:r>
          </a:p>
          <a:p>
            <a:r>
              <a:rPr sz="1100">
                <a:solidFill>
                  <a:srgbClr val="1A202C"/>
                </a:solidFill>
              </a:rPr>
              <a:t>8.  MwSt. 8.1% | VP brutto = netto + MwSt.</a:t>
            </a:r>
          </a:p>
          <a:p>
            <a:r>
              <a:rPr sz="1100">
                <a:solidFill>
                  <a:srgbClr val="1A202C"/>
                </a:solidFill>
              </a:rPr>
              <a:t/>
            </a:r>
          </a:p>
          <a:p>
            <a:r>
              <a:rPr sz="1100">
                <a:solidFill>
                  <a:srgbClr val="1A202C"/>
                </a:solidFill>
              </a:rPr>
              <a:t>WICHTIG: Preis = Gesamtpreis ALLER Stück – nicht Stückpreis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34440"/>
            <a:ext cx="5394960" cy="5349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1280160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Angebotsstruktur (Google Docs)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1719072"/>
            <a:ext cx="51206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1A202C"/>
                </a:solidFill>
              </a:rPr>
              <a:t>1.  Briefkopf (Schellenberg Druck AG, linksbündig)</a:t>
            </a:r>
          </a:p>
          <a:p>
            <a:r>
              <a:rPr sz="1100">
                <a:solidFill>
                  <a:srgbClr val="1A202C"/>
                </a:solidFill>
              </a:rPr>
              <a:t>2.  Empfänger (rechtsbündig)</a:t>
            </a:r>
          </a:p>
          <a:p>
            <a:r>
              <a:rPr sz="1100">
                <a:solidFill>
                  <a:srgbClr val="1A202C"/>
                </a:solidFill>
              </a:rPr>
              <a:t>3.  Angebotsnummer + Datum + Gültig bis (30 Tage)</a:t>
            </a:r>
          </a:p>
          <a:p>
            <a:r>
              <a:rPr sz="1100">
                <a:solidFill>
                  <a:srgbClr val="1A202C"/>
                </a:solidFill>
              </a:rPr>
              <a:t>4.  Betreff (fett)</a:t>
            </a:r>
          </a:p>
          <a:p>
            <a:r>
              <a:rPr sz="1100">
                <a:solidFill>
                  <a:srgbClr val="1A202C"/>
                </a:solidFill>
              </a:rPr>
              <a:t>5.  Leistungsbeschreibung pro Position:</a:t>
            </a:r>
          </a:p>
          <a:p>
            <a:r>
              <a:rPr sz="1100">
                <a:solidFill>
                  <a:srgbClr val="1A202C"/>
                </a:solidFill>
              </a:rPr>
              <a:t>    → Produkt, Format, Farbigkeit, Material</a:t>
            </a:r>
          </a:p>
          <a:p>
            <a:r>
              <a:rPr sz="1100">
                <a:solidFill>
                  <a:srgbClr val="1A202C"/>
                </a:solidFill>
              </a:rPr>
              <a:t>    → Auflage, Veredelung, Druckdaten</a:t>
            </a:r>
          </a:p>
          <a:p>
            <a:r>
              <a:rPr sz="1100">
                <a:solidFill>
                  <a:srgbClr val="1A202C"/>
                </a:solidFill>
              </a:rPr>
              <a:t>    → Kosten: CHF X.- (fett, gerundet)</a:t>
            </a:r>
          </a:p>
          <a:p>
            <a:r>
              <a:rPr sz="1100">
                <a:solidFill>
                  <a:srgbClr val="1A202C"/>
                </a:solidFill>
              </a:rPr>
              <a:t>6.  Kostenaufstellung Pos. 1–X</a:t>
            </a:r>
          </a:p>
          <a:p>
            <a:r>
              <a:rPr sz="1100">
                <a:solidFill>
                  <a:srgbClr val="1A202C"/>
                </a:solidFill>
              </a:rPr>
              <a:t>    Nettobetrag / MwSt. 8.1% / Gesamtbetrag (fett)</a:t>
            </a:r>
          </a:p>
          <a:p>
            <a:r>
              <a:rPr sz="1100">
                <a:solidFill>
                  <a:srgbClr val="1A202C"/>
                </a:solidFill>
              </a:rPr>
              <a:t>7.  Lieferbedingungen</a:t>
            </a:r>
          </a:p>
          <a:p>
            <a:r>
              <a:rPr sz="1100">
                <a:solidFill>
                  <a:srgbClr val="1A202C"/>
                </a:solidFill>
              </a:rPr>
              <a:t>8.  Zahlungsbedingungen (30 Tage / 50% Anzahlung)</a:t>
            </a:r>
          </a:p>
          <a:p>
            <a:r>
              <a:rPr sz="1100">
                <a:solidFill>
                  <a:srgbClr val="1A202C"/>
                </a:solidFill>
              </a:rPr>
              <a:t>9.  Druckdaten-Status</a:t>
            </a:r>
          </a:p>
          <a:p>
            <a:r>
              <a:rPr sz="1100">
                <a:solidFill>
                  <a:srgbClr val="1A202C"/>
                </a:solidFill>
              </a:rPr>
              <a:t>10. Rechtliche Hinweise (Fliesstext, CH-Gerichtsstand)</a:t>
            </a:r>
          </a:p>
          <a:p>
            <a:r>
              <a:rPr sz="1100">
                <a:solidFill>
                  <a:srgbClr val="1A202C"/>
                </a:solidFill>
              </a:rPr>
              <a:t>11. Unterschrift Edgar Glinz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" y="73152"/>
            <a:ext cx="822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9144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CONTROL – Kontrolle &amp; Robustheit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21792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DEEFF"/>
                </a:solidFill>
              </a:rPr>
              <a:t>Wie halten wir die Verbesserung stabil?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0" y="914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</a:rPr>
              <a:t>Schellenberg Druck AG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3444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2710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Human in the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69164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Edgar prüft jedes Angebot vor Versand</a:t>
            </a:r>
          </a:p>
          <a:p>
            <a:r>
              <a:rPr sz="1200">
                <a:solidFill>
                  <a:srgbClr val="1A202C"/>
                </a:solidFill>
              </a:rPr>
              <a:t>Wait-Node pausiert Workflow bis Klick</a:t>
            </a:r>
          </a:p>
          <a:p>
            <a:r>
              <a:rPr sz="1200">
                <a:solidFill>
                  <a:srgbClr val="1A202C"/>
                </a:solidFill>
              </a:rPr>
              <a:t>Approve-Link: ?approved=true</a:t>
            </a:r>
          </a:p>
          <a:p>
            <a:r>
              <a:rPr sz="1200">
                <a:solidFill>
                  <a:srgbClr val="1A202C"/>
                </a:solidFill>
              </a:rPr>
              <a:t>Reject-Link: ?approved=false</a:t>
            </a:r>
          </a:p>
          <a:p>
            <a:r>
              <a:rPr sz="1200">
                <a:solidFill>
                  <a:srgbClr val="1A202C"/>
                </a:solidFill>
              </a:rPr>
              <a:t>Timeout: 72h → Reminder → 48h → Archiv</a:t>
            </a:r>
          </a:p>
          <a:p>
            <a:r>
              <a:rPr sz="1200">
                <a:solidFill>
                  <a:srgbClr val="1A202C"/>
                </a:solidFill>
              </a:rPr>
              <a:t>Execution-ID = Sicherheitstoken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23444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23444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27101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3-Ebenen Fehlerbehandlung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169164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Ebene 1: Continue on Fail pro Node</a:t>
            </a:r>
          </a:p>
          <a:p>
            <a:r>
              <a:rPr sz="1200">
                <a:solidFill>
                  <a:srgbClr val="1A202C"/>
                </a:solidFill>
              </a:rPr>
              <a:t>         JSON-Validierung nach AI-Steps</a:t>
            </a:r>
          </a:p>
          <a:p>
            <a:r>
              <a:rPr sz="1200">
                <a:solidFill>
                  <a:srgbClr val="1A202C"/>
                </a:solidFill>
              </a:rPr>
              <a:t>         Retry bis 3× bei API-Fehlern</a:t>
            </a:r>
          </a:p>
          <a:p>
            <a:r>
              <a:rPr sz="1200">
                <a:solidFill>
                  <a:srgbClr val="1A202C"/>
                </a:solidFill>
              </a:rPr>
              <a:t>Ebene 2: Wait-Node Timeout-Logik</a:t>
            </a:r>
          </a:p>
          <a:p>
            <a:r>
              <a:rPr sz="1200">
                <a:solidFill>
                  <a:srgbClr val="1A202C"/>
                </a:solidFill>
              </a:rPr>
              <a:t>Ebene 3: Globaler Error-Workflow</a:t>
            </a:r>
          </a:p>
          <a:p>
            <a:r>
              <a:rPr sz="1200">
                <a:solidFill>
                  <a:srgbClr val="1A202C"/>
                </a:solidFill>
              </a:rPr>
              <a:t>         Mail an Edgar bei Absturz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3192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3192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96849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Audit-Trail &amp; Archivierung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38912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Google Docs: jede Offerte archiviert</a:t>
            </a:r>
          </a:p>
          <a:p>
            <a:r>
              <a:rPr sz="1200">
                <a:solidFill>
                  <a:srgbClr val="1A202C"/>
                </a:solidFill>
              </a:rPr>
              <a:t>Auftrags-Nr. DR-YYYY-MMDDHHNN</a:t>
            </a:r>
          </a:p>
          <a:p>
            <a:r>
              <a:rPr sz="1200">
                <a:solidFill>
                  <a:srgbClr val="1A202C"/>
                </a:solidFill>
              </a:rPr>
              <a:t>Google Sheets: Auftragsdatenbank (geplant)</a:t>
            </a:r>
          </a:p>
          <a:p>
            <a:r>
              <a:rPr sz="1200">
                <a:solidFill>
                  <a:srgbClr val="1A202C"/>
                </a:solidFill>
              </a:rPr>
              <a:t>Schweizer Recht: 10 Jahre Aufbewahrung</a:t>
            </a:r>
          </a:p>
          <a:p>
            <a:r>
              <a:rPr sz="1200">
                <a:solidFill>
                  <a:srgbClr val="1A202C"/>
                </a:solidFill>
              </a:rPr>
              <a:t>Interne Benachrichtigung bei Abschluss</a:t>
            </a:r>
          </a:p>
          <a:p>
            <a:r>
              <a:rPr sz="1200">
                <a:solidFill>
                  <a:srgbClr val="1A202C"/>
                </a:solidFill>
              </a:rPr>
              <a:t>Execution-Log in n8n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931920"/>
            <a:ext cx="5577840" cy="251460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3931920"/>
            <a:ext cx="557784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3968496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Qualitätssicherung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4389120"/>
            <a:ext cx="530352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A202C"/>
                </a:solidFill>
              </a:rPr>
              <a:t>AI gibt nur valides JSON aus (Schema)</a:t>
            </a:r>
          </a:p>
          <a:p>
            <a:r>
              <a:rPr sz="1200">
                <a:solidFill>
                  <a:srgbClr val="1A202C"/>
                </a:solidFill>
              </a:rPr>
              <a:t>Pflichtfelder erzwungen (niemals leer)</a:t>
            </a:r>
          </a:p>
          <a:p>
            <a:r>
              <a:rPr sz="1200">
                <a:solidFill>
                  <a:srgbClr val="1A202C"/>
                </a:solidFill>
              </a:rPr>
              <a:t>Terminprüfung: realistisch/knapp/unmögl.</a:t>
            </a:r>
          </a:p>
          <a:p>
            <a:r>
              <a:rPr sz="1200">
                <a:solidFill>
                  <a:srgbClr val="1A202C"/>
                </a:solidFill>
              </a:rPr>
              <a:t>Mehrprodukt-Aufträge: Pos. 1–5 geprüft</a:t>
            </a:r>
          </a:p>
          <a:p>
            <a:r>
              <a:rPr sz="1200">
                <a:solidFill>
                  <a:srgbClr val="1A202C"/>
                </a:solidFill>
              </a:rPr>
              <a:t>Kein Ermessensspielraum in Kalkulation</a:t>
            </a:r>
          </a:p>
          <a:p>
            <a:r>
              <a:rPr sz="1200">
                <a:solidFill>
                  <a:srgbClr val="1A202C"/>
                </a:solidFill>
              </a:rPr>
              <a:t>Regelmässige Prompt-Reviews geplant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Herausforderungen &amp; Lösungen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Lessons Learned aus Phase 1 (Zapier) und Phase 2 (n8n)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990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Stückpreis statt Gesamtpreis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8013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AI dividierte VP durch Auflage → Stückpreis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221991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WICHTIG-Hinweis im Prompt: 'Gesamtpreis ALLER Stück'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32588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39903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Thread blind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80136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AI las nur neueste E-Mail, ignorierte Kontext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2221991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Explizites Thread-Reading + Kurzantwort-Logik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821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Zapier Chip-Fehler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{{...}} als Plaintext getippt → kein Wert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40050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Chip-Picker verwenden, nie manuell tippen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10896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55080" y="318211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Flaches JSON (Zapier)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JSON-Arrays nicht mappbar in Zapier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00507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n8n: Arrays nativ – kein produkt_1...5 Hack nötig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89204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49651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HitL immer 'abgelehnt'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536752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Falsche Condition: Status statt Decision-Feld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788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Field: 'Decision' / Values: approved / rejected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4892040"/>
            <a:ext cx="5577840" cy="160020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96519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02C"/>
                </a:solidFill>
              </a:rPr>
              <a:t>Formatierung fehlt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367527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03030"/>
                </a:solidFill>
              </a:rPr>
              <a:t>✗  Plain-Text: kein Fett, keine Ausrichtung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578815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87248"/>
                </a:solidFill>
              </a:rPr>
              <a:t>✓  n8n + Google Docs: echte Formatierung möglich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Ergebnisse &amp;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A5568"/>
                </a:solidFill>
              </a:rPr>
              <a:t>Was erreicht wurde – was als nächstes kommt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5394960" cy="53492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394960" cy="384048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07592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Erreicht (Phase 1 &amp; 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830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6 Eingangskanäle normalisiert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3317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Vollständigkeitsprüfung mit Schema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8803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Deterministisches Pricing (0% Spielraum)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34290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Offerte via Google Docs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3977639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HitL mit Wait-Node + Webhook-Links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452628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Auftragskontext-Speicher (Loop)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507492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Abschlussmail &amp; Interne Benachrichtigung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5623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202C"/>
                </a:solidFill>
              </a:rPr>
              <a:t>✅  DMAIC-Struktur dokumentiert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1261872"/>
            <a:ext cx="5394960" cy="534924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1261872"/>
            <a:ext cx="539496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07592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Roadmap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81051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85D04"/>
                </a:solidFill>
              </a:rPr>
              <a:t>⚡ Kurzfristig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1945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Fehlerbehandlung (Error-Workflow)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57860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Druckdaten-Anhänge (Google Drive)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296265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End-to-End-Test (Mail + Webhook)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346703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C8800"/>
                </a:solidFill>
              </a:rPr>
              <a:t>📅 Mittelfristig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73075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Rechnung / CH-Quittung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1148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Auftragsdatenbank (Sheets/Supabase)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4498848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Twilio / WhatsApp / Telegram live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63640" y="4882896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8A169"/>
                </a:solidFill>
              </a:rPr>
              <a:t>🚀 Langfristig / Produktiv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5266944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Telefontranskription (Deepgram)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65099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Kundenstatus-Portal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603504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A5568"/>
                </a:solidFill>
              </a:rPr>
              <a:t>  →  Produktivbetrieb Schellenberg AG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EDF2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656832"/>
            <a:ext cx="11430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4A5568"/>
                </a:solidFill>
              </a:rPr>
              <a:t>Schellenberg Druck AG · Schützenhausstrasse 5 · 8330 Pfäffikon · schellenbergdruck.ch  |  Juni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Workflow Evolution – Phase 1: Zapier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</a:rPr>
              <a:t>Erster funktionsfähiger Workflow | Gmail → AI → Kalkulation → HitL → Versand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11247120" cy="452628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0" y="228600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5568"/>
                </a:solidFill>
              </a:rPr>
              <a:t>📸  Screenshot einfügen: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283464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A0AEC0"/>
                </a:solidFill>
              </a:rPr>
              <a:t>Zapier Workflow Übersicht
(erster Screenshot aus Chatverlauf)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5943600"/>
            <a:ext cx="2011680" cy="7315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989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82CE"/>
                </a:solidFill>
              </a:rPr>
              <a:t>Step 1–2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63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Gmail Trigger
+ AI Analyse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24328" y="5943600"/>
            <a:ext cx="2011680" cy="7315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5989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82CE"/>
                </a:solidFill>
              </a:rP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15768" y="6263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Path: vollständig
vs. unvollständig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91456" y="5943600"/>
            <a:ext cx="2011680" cy="7315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82896" y="5989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82CE"/>
                </a:solidFill>
              </a:rPr>
              <a:t>Step 6–7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2896" y="6263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Kalkulation
+ Offerte 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58584" y="5943600"/>
            <a:ext cx="2011680" cy="7315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50024" y="5989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82CE"/>
                </a:solidFill>
              </a:rPr>
              <a:t>Step 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0024" y="6263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Human in
the Loop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25712" y="5943600"/>
            <a:ext cx="2011680" cy="731520"/>
          </a:xfrm>
          <a:prstGeom prst="rect">
            <a:avLst/>
          </a:prstGeom>
          <a:solidFill>
            <a:srgbClr val="EBF4FF"/>
          </a:solidFill>
          <a:ln w="15240">
            <a:solidFill>
              <a:srgbClr val="318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7152" y="5989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3182CE"/>
                </a:solidFill>
              </a:rPr>
              <a:t>Step 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17152" y="626364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A5568"/>
                </a:solidFill>
              </a:rPr>
              <a:t>Rückfrage
E-Mail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Workflow Evolution – Phase 2a: n8n Einstieg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</a:rPr>
              <a:t>Erste n8n Version | Gmail + Webhook → Vollständigkeit → Kalkulation → Google Docs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5440680" cy="420624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568"/>
                </a:solidFill>
              </a:rPr>
              <a:t>📸  Screenshot einfügen: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44805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0AEC0"/>
                </a:solidFill>
              </a:rPr>
              <a:t>n8n Workflow – Version 1
(2 Kanäle: Gmail + Webhook)
Screenshot aus Chatverlauf</a:t>
            </a:r>
          </a:p>
        </p:txBody>
      </p:sp>
      <p:sp>
        <p:nvSpPr>
          <p:cNvPr id="8" name="Rectangle 7"/>
          <p:cNvSpPr/>
          <p:nvPr/>
        </p:nvSpPr>
        <p:spPr>
          <a:xfrm>
            <a:off x="6263640" y="1261872"/>
            <a:ext cx="5440680" cy="420624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377440"/>
            <a:ext cx="4480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4A5568"/>
                </a:solidFill>
              </a:rPr>
              <a:t>📸  Screenshot einfügen: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278892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0AEC0"/>
                </a:solidFill>
              </a:rPr>
              <a:t>n8n Workflow – Version 2
(6 Kanäle: + Twilio, WhatsApp,
Telegram, Kontaktformular)
Screenshot aus Chatverlauf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5623560"/>
            <a:ext cx="5440680" cy="10058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568756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A169"/>
                </a:solidFill>
              </a:rPr>
              <a:t>Version 1 – 2 Kanäle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601675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A5568"/>
                </a:solidFill>
              </a:rPr>
              <a:t>Gmail · Webhook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5623560"/>
            <a:ext cx="5440680" cy="100584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5687568"/>
            <a:ext cx="5120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38A169"/>
                </a:solidFill>
              </a:rPr>
              <a:t>Version 2 – 6 Kanäle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601675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4A5568"/>
                </a:solidFill>
              </a:rPr>
              <a:t>+ Twilio · WhatsApp · Telegram · Formular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E85D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02C"/>
                </a:solidFill>
              </a:rPr>
              <a:t>Workflow Evolution – Phase 2b: Aktueller Stand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0467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A5568"/>
                </a:solidFill>
              </a:rPr>
              <a:t>Vollständiger Workflow mit HitL Wait-Node, Genehmigungspfad und Fehlerbehandlung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61872"/>
            <a:ext cx="7772400" cy="4892040"/>
          </a:xfrm>
          <a:prstGeom prst="rect">
            <a:avLst/>
          </a:prstGeom>
          <a:solidFill>
            <a:srgbClr val="EDF2F7"/>
          </a:solidFill>
          <a:ln w="15240">
            <a:solidFill>
              <a:srgbClr val="CBD5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27432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4A5568"/>
                </a:solidFill>
              </a:rPr>
              <a:t>📸  Screenshot einfügen: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3291840"/>
            <a:ext cx="50292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A0AEC0"/>
                </a:solidFill>
              </a:rPr>
              <a:t>n8n Workflow – Aktuellster Stand
(vollständiger Flow mit allen Nodes)
Screenshot aus Chatverlauf</a:t>
            </a:r>
          </a:p>
        </p:txBody>
      </p:sp>
      <p:sp>
        <p:nvSpPr>
          <p:cNvPr id="8" name="Rectangle 7"/>
          <p:cNvSpPr/>
          <p:nvPr/>
        </p:nvSpPr>
        <p:spPr>
          <a:xfrm>
            <a:off x="8503920" y="1261872"/>
            <a:ext cx="3200400" cy="4892040"/>
          </a:xfrm>
          <a:prstGeom prst="rect">
            <a:avLst/>
          </a:prstGeom>
          <a:solidFill>
            <a:srgbClr val="E0F7FA"/>
          </a:solidFill>
          <a:ln w="15240">
            <a:solidFill>
              <a:srgbClr val="0096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503920" y="1261872"/>
            <a:ext cx="3200400" cy="384048"/>
          </a:xfrm>
          <a:prstGeom prst="rect">
            <a:avLst/>
          </a:prstGeom>
          <a:solidFill>
            <a:srgbClr val="0096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41080" y="1307592"/>
            <a:ext cx="2926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Node-Legende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1080" y="178308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📧  Gmail / E-Mail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41080" y="225856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🤖  Claude AI (Anthropic)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273405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⚙️  Code / Transform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3209544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🔀  IF / Switch Node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368503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⏳  Wait-Node (HitL)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1080" y="4160520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📄  Google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4636008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🔔  Webhook Trigger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5111496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💾  Daten speichern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5586984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2C"/>
                </a:solidFill>
              </a:rPr>
              <a:t>✉️  Nachricht senden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91072"/>
            <a:ext cx="11247120" cy="411480"/>
          </a:xfrm>
          <a:prstGeom prst="rect">
            <a:avLst/>
          </a:prstGeom>
          <a:solidFill>
            <a:srgbClr val="EAF7EE"/>
          </a:solidFill>
          <a:ln w="15240">
            <a:solidFill>
              <a:srgbClr val="38A1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635508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8A169"/>
                </a:solidFill>
              </a:rPr>
              <a:t>Status: HitL implementiert ✅ · 6 Kanäle ✅ · Kalkulation ✅ · Fehlerbehandlung ⏳ · Credentials Twilio/WA/TG 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